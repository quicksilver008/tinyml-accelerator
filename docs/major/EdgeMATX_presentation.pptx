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iscv-visualizer-2.vercel.app" TargetMode="External"/><Relationship Id="rId3" Type="http://schemas.openxmlformats.org/officeDocument/2006/relationships/image" Target="../media/image3.png"/><Relationship Id="rId4" Type="http://schemas.openxmlformats.org/officeDocument/2006/relationships/hyperlink" Target="https://tinyml-pcpi-visualizer.vercel.app" TargetMode="External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iscv-visualizer-2.vercel.app" TargetMode="External"/><Relationship Id="rId3" Type="http://schemas.openxmlformats.org/officeDocument/2006/relationships/hyperlink" Target="https://tinyml-pcpi-visualizer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00D4FF"/>
                </a:solidFill>
              </a:rPr>
              <a:t>EdgeMATX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8046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Design and Integration of a TinyML Systolic
Accelerator with PicoRV32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37560"/>
            <a:ext cx="7772400" cy="1905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1">
                <a:solidFill>
                  <a:srgbClr val="90A4B8"/>
                </a:solidFill>
              </a:rPr>
              <a:t>Submitted by</a:t>
            </a:r>
          </a:p>
          <a:p>
            <a:pPr algn="l">
              <a:spcBef>
                <a:spcPts val="200"/>
              </a:spcBef>
            </a:pPr>
            <a:r>
              <a:rPr sz="1700" b="1" i="0">
                <a:solidFill>
                  <a:srgbClr val="FFFFFF"/>
                </a:solidFill>
              </a:rPr>
              <a:t>Nishchay Pallav  221EC233</a:t>
            </a:r>
          </a:p>
          <a:p>
            <a:pPr algn="l">
              <a:spcBef>
                <a:spcPts val="200"/>
              </a:spcBef>
            </a:pPr>
            <a:r>
              <a:rPr sz="1700" b="1" i="0">
                <a:solidFill>
                  <a:srgbClr val="FFFFFF"/>
                </a:solidFill>
              </a:rPr>
              <a:t>Mohammad Omar Sulemani  221EC230</a:t>
            </a:r>
          </a:p>
          <a:p>
            <a:pPr algn="l">
              <a:spcBef>
                <a:spcPts val="200"/>
              </a:spcBef>
            </a:pPr>
            <a:r>
              <a:rPr sz="1700" b="1" i="0">
                <a:solidFill>
                  <a:srgbClr val="FFFFFF"/>
                </a:solidFill>
              </a:rPr>
              <a:t>Md Atib Kaif  221EC129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Under the Guidance of  Dr Rathamala Rao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A4B8"/>
                </a:solidFill>
              </a:rPr>
              <a:t>Dept. of Electronics &amp; Communication Engineering
National Institute of Technology Karnataka, Surathkal  575025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1371600"/>
            <a:ext cx="2743200" cy="4114800"/>
          </a:xfrm>
          <a:prstGeom prst="rect">
            <a:avLst/>
          </a:prstGeom>
          <a:solidFill>
            <a:srgbClr val="1421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1554480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D4FF"/>
                </a:solidFill>
              </a:rPr>
              <a:t>673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0299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0A4B8"/>
                </a:solidFill>
              </a:rPr>
              <a:t>Cycles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514600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DC75"/>
                </a:solidFill>
              </a:rPr>
              <a:t>54x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99008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0A4B8"/>
                </a:solidFill>
              </a:rPr>
              <a:t>Peak Speedup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3474720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6B35"/>
                </a:solidFill>
              </a:rPr>
              <a:t>19/19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395020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0A4B8"/>
                </a:solidFill>
              </a:rPr>
              <a:t>Tests 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4434840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BBF24"/>
                </a:solidFill>
              </a:rPr>
              <a:t>4x4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491032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0A4B8"/>
                </a:solidFill>
              </a:rPr>
              <a:t>Systolic Array</a:t>
            </a:r>
          </a:p>
        </p:txBody>
      </p:sp>
      <p:pic>
        <p:nvPicPr>
          <p:cNvPr id="19" name="Picture 18" descr="NITK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73152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med" dur="7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A hardware coprocessor for matrix multiplication on embedded RISC-V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212080"/>
          </a:xfrm>
          <a:prstGeom prst="rect">
            <a:avLst/>
          </a:prstGeom>
          <a:solidFill>
            <a:srgbClr val="1421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074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D4FF"/>
                </a:solidFill>
              </a:rPr>
              <a:t>What is EdgeMATX?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FFFFFF"/>
                </a:solidFill>
              </a:rPr>
              <a:t>A custom hardware coprocessor tightly coupled to the open-source PicoRV32 RISC-V processor.  A single custom instruction replaces 64 sequential software operations with 16 fully parallel hardware MACs.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FF6B35"/>
                </a:solidFill>
              </a:rPr>
              <a:t>Why Does It Matter?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</a:rPr>
              <a:t>  &gt;  TinyML inference on edge devices is dominated by dense matrix operations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</a:rPr>
              <a:t>  &gt;  General-purpose RISC-V cores execute these sequentially -- very slowly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FFFFFF"/>
                </a:solidFill>
              </a:rPr>
              <a:t>  &gt;  Purpose-built systolic hardware delivers 38-54x speedup at minimal area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00DC75"/>
                </a:solidFill>
              </a:rPr>
              <a:t>Our Approach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FFFFFF"/>
                </a:solidFill>
              </a:rPr>
              <a:t>One opcode. CPU stalls. 4x4 systolic array fires. Results appear in memory. 673 deterministic cycles -- every time.</a:t>
            </a:r>
          </a:p>
          <a:p>
            <a:pPr algn="l">
              <a:spcBef>
                <a:spcPts val="1200"/>
              </a:spcBef>
            </a:pPr>
            <a:r>
              <a:rPr sz="1800" b="1" i="0">
                <a:solidFill>
                  <a:srgbClr val="FBBF24"/>
                </a:solidFill>
              </a:rPr>
              <a:t>Scope &amp; Status</a:t>
            </a:r>
          </a:p>
          <a:p>
            <a:pPr algn="l">
              <a:spcBef>
                <a:spcPts val="500"/>
              </a:spcBef>
            </a:pPr>
            <a:r>
              <a:rPr sz="1300" b="0" i="0">
                <a:solidFill>
                  <a:srgbClr val="FFFFFF"/>
                </a:solidFill>
              </a:rPr>
              <a:t>RTL simulation complete. 19/19 tests passing. Two live web visualizers. FPGA deployment upcoming.</a:t>
            </a:r>
          </a:p>
        </p:txBody>
      </p:sp>
      <p:pic>
        <p:nvPicPr>
          <p:cNvPr id="8" name="Picture 7" descr="fig_system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234440"/>
            <a:ext cx="5943600" cy="5212080"/>
          </a:xfrm>
          <a:prstGeom prst="rect">
            <a:avLst/>
          </a:prstGeom>
        </p:spPr>
      </p:pic>
    </p:spTree>
  </p:cSld>
  <p:clrMapOvr>
    <a:masterClrMapping/>
  </p:clrMapOvr>
  <p:transition spd="med" dur="7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Matrix multiplication is ubiquitous -- and painfully slow on embedded CPUs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657600" cy="5212080"/>
          </a:xfrm>
          <a:prstGeom prst="rect">
            <a:avLst/>
          </a:prstGeom>
          <a:solidFill>
            <a:srgbClr val="1421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Where It's Needed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383280" cy="127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74519"/>
            <a:ext cx="3429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FFFFFF"/>
                </a:solidFill>
              </a:rPr>
              <a:t>  TinyML Inference</a:t>
            </a:r>
          </a:p>
          <a:p>
            <a:pPr algn="l">
              <a:spcBef>
                <a:spcPts val="100"/>
              </a:spcBef>
            </a:pPr>
            <a:r>
              <a:rPr sz="1200" b="0" i="1">
                <a:solidFill>
                  <a:srgbClr val="90A4B8"/>
                </a:solidFill>
              </a:rPr>
              <a:t>Neural network layers are dense GEMM ops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FFFFFF"/>
                </a:solidFill>
              </a:rPr>
              <a:t>  Digital Signal Proc.</a:t>
            </a:r>
          </a:p>
          <a:p>
            <a:pPr algn="l">
              <a:spcBef>
                <a:spcPts val="100"/>
              </a:spcBef>
            </a:pPr>
            <a:r>
              <a:rPr sz="1200" b="0" i="1">
                <a:solidFill>
                  <a:srgbClr val="90A4B8"/>
                </a:solidFill>
              </a:rPr>
              <a:t>Convolution = repeated matrix multiply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FFFFFF"/>
                </a:solidFill>
              </a:rPr>
              <a:t>  Scientific Computing</a:t>
            </a:r>
          </a:p>
          <a:p>
            <a:pPr algn="l">
              <a:spcBef>
                <a:spcPts val="100"/>
              </a:spcBef>
            </a:pPr>
            <a:r>
              <a:rPr sz="1200" b="0" i="1">
                <a:solidFill>
                  <a:srgbClr val="90A4B8"/>
                </a:solidFill>
              </a:rPr>
              <a:t>Linear solvers, transforms, all matrix ops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FFFFFF"/>
                </a:solidFill>
              </a:rPr>
              <a:t>  Image Processing</a:t>
            </a:r>
          </a:p>
          <a:p>
            <a:pPr algn="l">
              <a:spcBef>
                <a:spcPts val="100"/>
              </a:spcBef>
            </a:pPr>
            <a:r>
              <a:rPr sz="1200" b="0" i="1">
                <a:solidFill>
                  <a:srgbClr val="90A4B8"/>
                </a:solidFill>
              </a:rPr>
              <a:t>Filters, transforms, feature extraction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234440"/>
            <a:ext cx="3931920" cy="5212080"/>
          </a:xfrm>
          <a:prstGeom prst="rect">
            <a:avLst/>
          </a:prstGeom>
          <a:solidFill>
            <a:srgbClr val="14213E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3258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35"/>
                </a:solidFill>
              </a:rPr>
              <a:t>Sequential CPU Execution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3749039" cy="127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874519"/>
            <a:ext cx="3749039" cy="2103120"/>
          </a:xfrm>
          <a:prstGeom prst="rect">
            <a:avLst/>
          </a:prstGeom>
          <a:solidFill>
            <a:srgbClr val="080F1E"/>
          </a:solidFill>
          <a:ln w="6350">
            <a:solidFill>
              <a:srgbClr val="90A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920240"/>
            <a:ext cx="35661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400" b="0" i="0">
                <a:solidFill>
                  <a:srgbClr val="00DC75"/>
                </a:solidFill>
              </a:rPr>
              <a:t>for i in range(4):</a:t>
            </a:r>
          </a:p>
          <a:p>
            <a:pPr algn="l"/>
            <a:r>
              <a:rPr sz="1400" b="0" i="0">
                <a:solidFill>
                  <a:srgbClr val="00DC75"/>
                </a:solidFill>
              </a:rPr>
              <a:t>  for j in range(4):</a:t>
            </a:r>
          </a:p>
          <a:p>
            <a:pPr algn="l"/>
            <a:r>
              <a:rPr sz="1400" b="0" i="0">
                <a:solidFill>
                  <a:srgbClr val="00DC75"/>
                </a:solidFill>
              </a:rPr>
              <a:t>    for k in range(4):</a:t>
            </a:r>
          </a:p>
          <a:p>
            <a:pPr algn="l"/>
            <a:r>
              <a:rPr sz="1400" b="0" i="0">
                <a:solidFill>
                  <a:srgbClr val="00DC75"/>
                </a:solidFill>
              </a:rPr>
              <a:t>      C[i][j] += A[i][k]</a:t>
            </a:r>
          </a:p>
          <a:p>
            <a:pPr algn="l"/>
            <a:r>
              <a:rPr sz="1400" b="0" i="0">
                <a:solidFill>
                  <a:srgbClr val="00DC75"/>
                </a:solidFill>
              </a:rPr>
              <a:t>             * B[k][j]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069080"/>
            <a:ext cx="374903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FFFFFF"/>
                </a:solidFill>
              </a:rPr>
              <a:t>64 multiply-accumulate ops</a:t>
            </a:r>
          </a:p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90A4B8"/>
                </a:solidFill>
              </a:rPr>
              <a:t>executed one at a time</a:t>
            </a:r>
          </a:p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FF4D4D"/>
                </a:solidFill>
              </a:rPr>
              <a:t>RV32I (no MUL):   26,130 cycles</a:t>
            </a:r>
          </a:p>
          <a:p>
            <a:pPr algn="l">
              <a:spcBef>
                <a:spcPts val="300"/>
              </a:spcBef>
            </a:pPr>
            <a:r>
              <a:rPr sz="1500" b="0" i="0">
                <a:solidFill>
                  <a:srgbClr val="FBBF24"/>
                </a:solidFill>
              </a:rPr>
              <a:t>RV32IM (with MUL):  7,975 cycles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58200" y="1234440"/>
            <a:ext cx="3337560" cy="5212080"/>
          </a:xfrm>
          <a:prstGeom prst="rect">
            <a:avLst/>
          </a:prstGeom>
          <a:solidFill>
            <a:srgbClr val="1E2D4F"/>
          </a:solidFill>
          <a:ln w="12700">
            <a:solidFill>
              <a:srgbClr val="00D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325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C75"/>
                </a:solidFill>
              </a:rPr>
              <a:t>The Gap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1783080"/>
            <a:ext cx="3154680" cy="12700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20240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4D4D"/>
                </a:solidFill>
              </a:rPr>
              <a:t>26 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468880"/>
            <a:ext cx="3154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B8"/>
                </a:solidFill>
              </a:rPr>
              <a:t>cycles wasted per
4x4 multiply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154680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6B35"/>
                </a:solidFill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703320"/>
            <a:ext cx="3154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B8"/>
                </a:solidFill>
              </a:rPr>
              <a:t>sequential
execution on CPU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4389120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90A4B8"/>
                </a:solidFill>
              </a:rPr>
              <a:t>0x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4937760"/>
            <a:ext cx="3154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B8"/>
                </a:solidFill>
              </a:rPr>
              <a:t>hardware
parallelism</a:t>
            </a:r>
          </a:p>
        </p:txBody>
      </p:sp>
    </p:spTree>
  </p:cSld>
  <p:clrMapOvr>
    <a:masterClrMapping/>
  </p:clrMapOvr>
  <p:transition spd="med" dur="7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The Solution: EdgeMATX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A custom PCPI coprocessor tightly coupled to PicoRV32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1097280"/>
          </a:xfrm>
          <a:prstGeom prst="rect">
            <a:avLst/>
          </a:prstGeom>
          <a:solidFill>
            <a:srgbClr val="1421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One custom instruction replaces 64 sequential CPU operations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749039" cy="2743200"/>
          </a:xfrm>
          <a:prstGeom prst="rect">
            <a:avLst/>
          </a:prstGeom>
          <a:solidFill>
            <a:srgbClr val="1421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</a:rPr>
              <a:t>Tightly Coupled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218688"/>
            <a:ext cx="3474720" cy="10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310128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PCPI interface: zero memory-mapped overhead. CPU stalls and resumes -- no interrupts, no DMA.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560320"/>
            <a:ext cx="3749039" cy="2743200"/>
          </a:xfrm>
          <a:prstGeom prst="rect">
            <a:avLst/>
          </a:prstGeom>
          <a:solidFill>
            <a:srgbClr val="14213E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67004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</a:rPr>
              <a:t>Systolic Datapath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53128" y="3218688"/>
            <a:ext cx="3474720" cy="10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3310128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4x4 array of 16 processing elements. All 16 MACs execute in parallel every clock cycle.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66176" y="2560320"/>
            <a:ext cx="3749039" cy="2743200"/>
          </a:xfrm>
          <a:prstGeom prst="rect">
            <a:avLst/>
          </a:prstGeom>
          <a:solidFill>
            <a:srgbClr val="14213E"/>
          </a:solidFill>
          <a:ln w="19050">
            <a:solidFill>
              <a:srgbClr val="00D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3336" y="267004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DC75"/>
                </a:solidFill>
              </a:rPr>
              <a:t>Q5.10 Fixed-Point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3218688"/>
            <a:ext cx="3474720" cy="10160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3336" y="3310128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16-bit signed arithmetic. No floating-point hardware needed -- ideal for constrained silicon.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532120"/>
            <a:ext cx="11430000" cy="777240"/>
          </a:xfrm>
          <a:prstGeom prst="rect">
            <a:avLst/>
          </a:prstGeom>
          <a:solidFill>
            <a:srgbClr val="001A33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778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</a:rPr>
              <a:t>673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6418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Deterministic 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5778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</a:rPr>
              <a:t>38.83x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6418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Speedup (sparse data)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5778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</a:rPr>
              <a:t>53.86x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6418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Speedup (dense data)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5778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</a:rPr>
              <a:t>11.85x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56418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Speedup vs MUL rv32im</a:t>
            </a:r>
          </a:p>
        </p:txBody>
      </p:sp>
    </p:spTree>
  </p:cSld>
  <p:clrMapOvr>
    <a:masterClrMapping/>
  </p:clrMapOvr>
  <p:transition spd="med" dur="7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Project Progress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Simulation-complete milestone -- all RTL objectives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669280" cy="2560320"/>
          </a:xfrm>
          <a:prstGeom prst="rect">
            <a:avLst/>
          </a:prstGeom>
          <a:solidFill>
            <a:srgbClr val="14213E"/>
          </a:solidFill>
          <a:ln w="19050">
            <a:solidFill>
              <a:srgbClr val="00D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44168"/>
            <a:ext cx="822960" cy="292608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4416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2588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C75"/>
                </a:solidFill>
              </a:rPr>
              <a:t>Phase 1: RTL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728216"/>
            <a:ext cx="5440680" cy="10160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56232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4x4 systolic array in Verilog (Q5.10 fixed-point MACs)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PCPI coprocessor wrapper for PicoRV32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Memory-mapped I/O:  A@0x100  B@0x140  C@0x200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34440"/>
            <a:ext cx="5669280" cy="2560320"/>
          </a:xfrm>
          <a:prstGeom prst="rect">
            <a:avLst/>
          </a:prstGeom>
          <a:solidFill>
            <a:srgbClr val="1421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19088" y="1344168"/>
            <a:ext cx="822960" cy="292608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34416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32588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Phase 2: Simulation &amp; Verification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1728216"/>
            <a:ext cx="5440680" cy="10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56232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19/19 standalone accelerator tests -- 100% PASS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8/8 CPU integration regression tests -- 100% PASS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Cycle benchmarking: 673 deterministic cycles confirmed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31920"/>
            <a:ext cx="5669280" cy="2560320"/>
          </a:xfrm>
          <a:prstGeom prst="rect">
            <a:avLst/>
          </a:prstGeom>
          <a:solidFill>
            <a:srgbClr val="14213E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041648"/>
            <a:ext cx="822960" cy="292608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041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DONE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02336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</a:rPr>
              <a:t>Phase 3: Tooling &amp; Documentation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4425696"/>
            <a:ext cx="5440680" cy="10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53712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Two interactive web visualizers deployed on Vercel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Full LaTeX project report submitted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</a:rPr>
              <a:t>    38-54x speedup measured and documented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931920"/>
            <a:ext cx="5669280" cy="2560320"/>
          </a:xfrm>
          <a:prstGeom prst="rect">
            <a:avLst/>
          </a:prstGeom>
          <a:solidFill>
            <a:srgbClr val="14213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19088" y="4041648"/>
            <a:ext cx="822960" cy="2926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4041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NEXT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402336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Phase 4: FPGA Deployment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9088" y="4425696"/>
            <a:ext cx="5440680" cy="101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53712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90A4B8"/>
                </a:solidFill>
              </a:rPr>
              <a:t>    Synthesize on Pynq-Z2 (Xilinx Zynq-7020)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90A4B8"/>
                </a:solidFill>
              </a:rPr>
              <a:t>    On-board cycle validation and timing closure</a:t>
            </a:r>
          </a:p>
          <a:p>
            <a:pPr algn="l">
              <a:spcBef>
                <a:spcPts val="500"/>
              </a:spcBef>
            </a:pPr>
            <a:r>
              <a:rPr sz="1200" b="0" i="0">
                <a:solidFill>
                  <a:srgbClr val="90A4B8"/>
                </a:solidFill>
              </a:rPr>
              <a:t>    AXI-BRAM memory interface integration</a:t>
            </a:r>
          </a:p>
        </p:txBody>
      </p:sp>
    </p:spTree>
  </p:cSld>
  <p:clrMapOvr>
    <a:masterClrMapping/>
  </p:clrMapOvr>
  <p:transition spd="med" dur="7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Firmware  -&gt;  PicoRV32  -&gt;  PCPI  -&gt;  4x4 Systolic Accelerator  -&gt; 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4663440" cy="5212080"/>
          </a:xfrm>
          <a:prstGeom prst="rect">
            <a:avLst/>
          </a:prstGeom>
          <a:solidFill>
            <a:srgbClr val="1421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4434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Architecture Layers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4434840" cy="10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4434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00DC75"/>
                </a:solidFill>
              </a:rPr>
              <a:t>  Firmware (RISC-V C)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FFFFFF"/>
                </a:solidFill>
              </a:rPr>
              <a:t>    Loads matrices at mapped addresses, issues custom opcode 0x5420818b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00D4FF"/>
                </a:solidFill>
              </a:rPr>
              <a:t>  PicoRV32 CPU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FFFFFF"/>
                </a:solidFill>
              </a:rPr>
              <a:t>    RV32I core, ENABLE_PCPI=1, decodes custom opcode, stalls until pcpi_ready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F6B35"/>
                </a:solidFill>
              </a:rPr>
              <a:t>  PCPI Wrapper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FFFFFF"/>
                </a:solidFill>
              </a:rPr>
              <a:t>    Detects instruction, drives systolic engine, asserts pcpi_ready on finish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06AC8"/>
                </a:solidFill>
              </a:rPr>
              <a:t>  4x4 Systolic Array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FFFFFF"/>
                </a:solidFill>
              </a:rPr>
              <a:t>    16 Q5.10 MAC units, output-stationary dataflow, 673 deterministic cycles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BBF24"/>
                </a:solidFill>
              </a:rPr>
              <a:t>  Flat Memory Map</a:t>
            </a:r>
          </a:p>
          <a:p>
            <a:pPr algn="l">
              <a:spcBef>
                <a:spcPts val="100"/>
              </a:spcBef>
            </a:pPr>
            <a:r>
              <a:rPr sz="1100" b="0" i="0">
                <a:solidFill>
                  <a:srgbClr val="FFFFFF"/>
                </a:solidFill>
              </a:rPr>
              <a:t>    A: 0x100-0x13C   B: 0x140-0x17C   C (result): 0x200-0x23C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234440"/>
            <a:ext cx="662940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nyml_accelerator_detaile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6537960" cy="5120640"/>
          </a:xfrm>
          <a:prstGeom prst="rect">
            <a:avLst/>
          </a:prstGeom>
        </p:spPr>
      </p:pic>
    </p:spTree>
  </p:cSld>
  <p:clrMapOvr>
    <a:masterClrMapping/>
  </p:clrMapOvr>
  <p:transition spd="med" dur="7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PCPI: The Custom Instruction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Pico Co-Processor Interface -- zero-cost hardware dispatch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2788920"/>
          </a:xfrm>
          <a:prstGeom prst="rect">
            <a:avLst/>
          </a:prstGeom>
          <a:solidFill>
            <a:srgbClr val="14213E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Interface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5029200" cy="101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0D4FF"/>
                </a:solidFill>
              </a:rPr>
              <a:t>  pcpi_valid</a:t>
            </a:r>
          </a:p>
          <a:p>
            <a:pPr algn="l"/>
            <a:r>
              <a:rPr sz="1000" b="0" i="0">
                <a:solidFill>
                  <a:srgbClr val="90A4B8"/>
                </a:solidFill>
              </a:rPr>
              <a:t>     CPU -&gt; CoPro  |  Custom instruction detected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0D4FF"/>
                </a:solidFill>
              </a:rPr>
              <a:t>  pcpi_insn</a:t>
            </a:r>
          </a:p>
          <a:p>
            <a:pPr algn="l"/>
            <a:r>
              <a:rPr sz="1000" b="0" i="0">
                <a:solidFill>
                  <a:srgbClr val="90A4B8"/>
                </a:solidFill>
              </a:rPr>
              <a:t>     CPU -&gt; CoPro  |  Full 32-bit instruction word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0D4FF"/>
                </a:solidFill>
              </a:rPr>
              <a:t>  pcpi_rs1/2</a:t>
            </a:r>
          </a:p>
          <a:p>
            <a:pPr algn="l"/>
            <a:r>
              <a:rPr sz="1000" b="0" i="0">
                <a:solidFill>
                  <a:srgbClr val="90A4B8"/>
                </a:solidFill>
              </a:rPr>
              <a:t>     CPU -&gt; CoPro  |  Source registers (matrix A/B addr)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0DC75"/>
                </a:solidFill>
              </a:rPr>
              <a:t>  pcpi_ready</a:t>
            </a:r>
          </a:p>
          <a:p>
            <a:pPr algn="l"/>
            <a:r>
              <a:rPr sz="1000" b="0" i="0">
                <a:solidFill>
                  <a:srgbClr val="90A4B8"/>
                </a:solidFill>
              </a:rPr>
              <a:t>     CoPro -&gt; CPU  |  Computation done -- CPU resumes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FF6B35"/>
                </a:solidFill>
              </a:rPr>
              <a:t>  pcpi_wr/rd</a:t>
            </a:r>
          </a:p>
          <a:p>
            <a:pPr algn="l"/>
            <a:r>
              <a:rPr sz="1000" b="0" i="0">
                <a:solidFill>
                  <a:srgbClr val="90A4B8"/>
                </a:solidFill>
              </a:rPr>
              <a:t>     CoPro -&gt; CPU  |  Write-back flag + result (unused)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90A4B8"/>
                </a:solidFill>
              </a:rPr>
              <a:t>  pcpi_wait</a:t>
            </a:r>
          </a:p>
          <a:p>
            <a:pPr algn="l"/>
            <a:r>
              <a:rPr sz="1000" b="0" i="0">
                <a:solidFill>
                  <a:srgbClr val="90A4B8"/>
                </a:solidFill>
              </a:rPr>
              <a:t>     CoPro -&gt; CPU  |  Hold CPU stall (optional)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234440"/>
            <a:ext cx="5943600" cy="2788920"/>
          </a:xfrm>
          <a:prstGeom prst="rect">
            <a:avLst/>
          </a:prstGeom>
          <a:solidFill>
            <a:srgbClr val="1E2D4F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Execution Handshake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691640"/>
            <a:ext cx="5669280" cy="10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783080"/>
            <a:ext cx="27432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783080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013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CPU fetches  0x5420818b  custom opcode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048256"/>
            <a:ext cx="27432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204825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665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pcpi_valid=1, rs1/rs2 broadcast to coprocessor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13432"/>
            <a:ext cx="274320" cy="2560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2313432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317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CPU stalls -- awaiting pcpi_ready=1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2578608"/>
            <a:ext cx="27432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257860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5968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Coprocessor reads matrix A &amp; B from memory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2843784"/>
            <a:ext cx="27432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2843784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8620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4x4 systolic array computes 16 dot products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3108960"/>
            <a:ext cx="27432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3108960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1272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Results written to matrix C region (0x200-0x23C)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3374136"/>
            <a:ext cx="274320" cy="256032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37413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42A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39242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pcpi_ready=1  -- CPU resumes next instruction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114800"/>
            <a:ext cx="11430000" cy="347472"/>
          </a:xfrm>
          <a:prstGeom prst="rect">
            <a:avLst/>
          </a:prstGeom>
          <a:solidFill>
            <a:srgbClr val="080F1E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15137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</a:rPr>
              <a:t>Custom opcode:  0x5420818b   (custom-0 space, funct7=0101010, rs2=00000, funct3=000, opcode=0001011)</a:t>
            </a:r>
          </a:p>
        </p:txBody>
      </p:sp>
      <p:pic>
        <p:nvPicPr>
          <p:cNvPr id="36" name="Picture 35" descr="pcpi_integration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0"/>
            <a:ext cx="11430000" cy="1874519"/>
          </a:xfrm>
          <a:prstGeom prst="rect">
            <a:avLst/>
          </a:prstGeom>
        </p:spPr>
      </p:pic>
    </p:spTree>
  </p:cSld>
  <p:clrMapOvr>
    <a:masterClrMapping/>
  </p:clrMapOvr>
  <p:transition spd="med" dur="7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The 4x4 Systolic Array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16 parallel Processing Elements -- output-stationary dataflow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pic>
        <p:nvPicPr>
          <p:cNvPr id="6" name="Picture 5" descr="fig_systolic_ar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943600" cy="5212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37960" y="1234440"/>
            <a:ext cx="5470855" cy="5212080"/>
          </a:xfrm>
          <a:prstGeom prst="rect">
            <a:avLst/>
          </a:prstGeom>
          <a:solidFill>
            <a:srgbClr val="1421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25880"/>
            <a:ext cx="52879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737360"/>
            <a:ext cx="5287975" cy="10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52879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F6B35"/>
                </a:solidFill>
              </a:rPr>
              <a:t>  Output-stationary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</a:rPr>
              <a:t>    Each PE accumulates its partial sum for C[i,j] in place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F6B35"/>
                </a:solidFill>
              </a:rPr>
              <a:t>  Row broadcast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</a:rPr>
              <a:t>    Row i of matrix A flows right across row i of PEs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F6B35"/>
                </a:solidFill>
              </a:rPr>
              <a:t>  Column broadcast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</a:rPr>
              <a:t>    Column j of matrix B flows down column j of PEs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F6B35"/>
                </a:solidFill>
              </a:rPr>
              <a:t>  Parallel MACs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</a:rPr>
              <a:t>    All 16 PEs fire simultaneously every clock cycle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F6B35"/>
                </a:solidFill>
              </a:rPr>
              <a:t>  Deterministic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</a:rPr>
              <a:t>    673 cycles regardless of operand values</a:t>
            </a:r>
          </a:p>
          <a:p>
            <a:pPr algn="l">
              <a:spcBef>
                <a:spcPts val="800"/>
              </a:spcBef>
            </a:pPr>
            <a:r>
              <a:rPr sz="1400" b="1" i="0">
                <a:solidFill>
                  <a:srgbClr val="FF6B35"/>
                </a:solidFill>
              </a:rPr>
              <a:t>  16-bit Q5.10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</a:rPr>
              <a:t>    Multiply -&gt; shift-right 10 -&gt; accumulate -&gt; truncate</a:t>
            </a:r>
          </a:p>
        </p:txBody>
      </p:sp>
    </p:spTree>
  </p:cSld>
  <p:clrMapOvr>
    <a:masterClrMapping/>
  </p:clrMapOvr>
  <p:transition spd="med" dur="7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Q5.10 Fixed-Point Arithmetic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16-bit two's complement -- integer simplicity, fractional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713232" cy="685800"/>
          </a:xfrm>
          <a:prstGeom prst="rect">
            <a:avLst/>
          </a:prstGeom>
          <a:solidFill>
            <a:srgbClr val="FF4D4D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8992" y="1325880"/>
            <a:ext cx="713232" cy="685800"/>
          </a:xfrm>
          <a:prstGeom prst="rect">
            <a:avLst/>
          </a:prstGeom>
          <a:solidFill>
            <a:srgbClr val="FF6B35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I4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92224" y="1325880"/>
            <a:ext cx="713232" cy="685800"/>
          </a:xfrm>
          <a:prstGeom prst="rect">
            <a:avLst/>
          </a:prstGeom>
          <a:solidFill>
            <a:srgbClr val="FF6B35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92224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I3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24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05456" y="1325880"/>
            <a:ext cx="713232" cy="685800"/>
          </a:xfrm>
          <a:prstGeom prst="rect">
            <a:avLst/>
          </a:prstGeom>
          <a:solidFill>
            <a:srgbClr val="FF6B35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05456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I2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18688" y="1325880"/>
            <a:ext cx="713232" cy="685800"/>
          </a:xfrm>
          <a:prstGeom prst="rect">
            <a:avLst/>
          </a:prstGeom>
          <a:solidFill>
            <a:srgbClr val="FF6B35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8688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I1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8688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1325880"/>
            <a:ext cx="713232" cy="685800"/>
          </a:xfrm>
          <a:prstGeom prst="rect">
            <a:avLst/>
          </a:prstGeom>
          <a:solidFill>
            <a:srgbClr val="FF6B35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I0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45152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2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58384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58384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58384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1616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616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71616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84848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0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0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0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11312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11312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24544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24544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24544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37776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37776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37776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51008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51008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064240" y="1325880"/>
            <a:ext cx="713232" cy="685800"/>
          </a:xfrm>
          <a:prstGeom prst="rect">
            <a:avLst/>
          </a:prstGeom>
          <a:solidFill>
            <a:srgbClr val="00D4FF"/>
          </a:solidFill>
          <a:ln w="25400">
            <a:solidFill>
              <a:srgbClr val="0B1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64240" y="1444752"/>
            <a:ext cx="71323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F0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64240" y="2029968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0A4B8"/>
                </a:solidFill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2286000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4D4D"/>
                </a:solidFill>
              </a:rPr>
              <a:t>Sign (1 bit)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22860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35"/>
                </a:solidFill>
              </a:rPr>
              <a:t>Integer part  (5 bits)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286000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D4FF"/>
                </a:solidFill>
              </a:rPr>
              <a:t>Fractional part  (10 bits)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17520"/>
            <a:ext cx="2834640" cy="914400"/>
          </a:xfrm>
          <a:prstGeom prst="rect">
            <a:avLst/>
          </a:prstGeom>
          <a:solidFill>
            <a:srgbClr val="1421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0906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Range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3401568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-32.0  to  +31.999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10128" y="3017520"/>
            <a:ext cx="2834640" cy="914400"/>
          </a:xfrm>
          <a:prstGeom prst="rect">
            <a:avLst/>
          </a:prstGeom>
          <a:solidFill>
            <a:srgbClr val="1421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01568" y="30906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Resolution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01568" y="3401568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 / 1024  ~  0.001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54496" y="3017520"/>
            <a:ext cx="2834640" cy="914400"/>
          </a:xfrm>
          <a:prstGeom prst="rect">
            <a:avLst/>
          </a:prstGeom>
          <a:solidFill>
            <a:srgbClr val="1421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45936" y="30906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Format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3401568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16-bit signed integer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98864" y="3017520"/>
            <a:ext cx="2834640" cy="914400"/>
          </a:xfrm>
          <a:prstGeom prst="rect">
            <a:avLst/>
          </a:prstGeom>
          <a:solidFill>
            <a:srgbClr val="1421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90304" y="309067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Scaling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90304" y="3401568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Multiply -&gt; shift right 10 bits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4114800"/>
            <a:ext cx="11430000" cy="2103120"/>
          </a:xfrm>
          <a:prstGeom prst="rect">
            <a:avLst/>
          </a:prstGeom>
          <a:solidFill>
            <a:srgbClr val="1E2D4F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418795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</a:rPr>
              <a:t>Processing Element MAC Operation  (per clock cycle):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4617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(1) Multiply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4956048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a_in x b_in  -&gt;  32-bit signed product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55848" y="4617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(2) Scale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55848" y="4956048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product &gt;&gt;&gt; 10  (arithmetic right-shift corrects Q5.10)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08776" y="4617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(3) Accumulate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08776" y="4956048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acc +=  scaled_product  (32-bit running sum)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61704" y="46177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BBF24"/>
                </a:solidFill>
              </a:rPr>
              <a:t>(4) Pass through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61704" y="4956048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a_out &lt;- a_in  ;  b_out &lt;- b_in  (feed neighbours)</a:t>
            </a:r>
          </a:p>
        </p:txBody>
      </p:sp>
    </p:spTree>
  </p:cSld>
  <p:clrMapOvr>
    <a:masterClrMapping/>
  </p:clrMapOvr>
  <p:transition spd="med" dur="7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Verification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Four-layer simulation campaign -- unit tests to full system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1170432"/>
          </a:xfrm>
          <a:prstGeom prst="rect">
            <a:avLst/>
          </a:prstGeom>
          <a:solidFill>
            <a:srgbClr val="14213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08176"/>
            <a:ext cx="502920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081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B142A"/>
                </a:solidFill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25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BBF24"/>
                </a:solidFill>
              </a:rPr>
              <a:t>Layer 4  |  Performance Benchmarking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64792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Cycle-count measurement against two software baselines (no-MUL and MUL-equipped).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0" y="1554480"/>
            <a:ext cx="1691640" cy="4572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591056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673 cycles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881360" cy="1170432"/>
          </a:xfrm>
          <a:prstGeom prst="rect">
            <a:avLst/>
          </a:prstGeom>
          <a:solidFill>
            <a:srgbClr val="14213E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670048"/>
            <a:ext cx="502920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700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B142A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58775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6B35"/>
                </a:solidFill>
              </a:rPr>
              <a:t>Layer 3  |  Protocol Handoff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026664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Isolated test of PCPI signal handshake -- pcpi_valid, pcpi_ready, pcpi_insn correctness.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816352"/>
            <a:ext cx="169164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85292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3758184"/>
            <a:ext cx="10332720" cy="1170432"/>
          </a:xfrm>
          <a:prstGeom prst="rect">
            <a:avLst/>
          </a:prstGeom>
          <a:solidFill>
            <a:srgbClr val="1421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931920"/>
            <a:ext cx="502920" cy="5029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931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B142A"/>
                </a:solidFill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84962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</a:rPr>
              <a:t>Layer 2  |  CPU Integration Regression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288536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Full system simulation: PicoRV32 + PCPI wrapper + accelerator. 8 input profiles.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4078224"/>
            <a:ext cx="169164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411480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8 / 8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720" y="5020056"/>
            <a:ext cx="9784080" cy="1170432"/>
          </a:xfrm>
          <a:prstGeom prst="rect">
            <a:avLst/>
          </a:prstGeom>
          <a:solidFill>
            <a:srgbClr val="14213E"/>
          </a:solidFill>
          <a:ln w="19050">
            <a:solidFill>
              <a:srgbClr val="00D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80160" y="5193792"/>
            <a:ext cx="502920" cy="502920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0" y="51937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B142A"/>
                </a:solidFill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511149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C75"/>
                </a:solidFill>
              </a:rPr>
              <a:t>Layer 1  |  Standalone Unit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5550408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Accelerator module in isolation. Zero, identity, dense, boundary, negative-element cases.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5340096"/>
            <a:ext cx="1691640" cy="457200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53766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42A"/>
                </a:solidFill>
              </a:rPr>
              <a:t>19 / 19 PASS</a:t>
            </a:r>
          </a:p>
        </p:txBody>
      </p:sp>
    </p:spTree>
  </p:cSld>
  <p:clrMapOvr>
    <a:masterClrMapping/>
  </p:clrMapOvr>
  <p:transition spd="med" dur="70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Verification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100% pass rate across all test flows -- simulation-complete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474720" cy="5212080"/>
          </a:xfrm>
          <a:prstGeom prst="rect">
            <a:avLst/>
          </a:prstGeom>
          <a:solidFill>
            <a:srgbClr val="002010"/>
          </a:solidFill>
          <a:ln w="25400">
            <a:solidFill>
              <a:srgbClr val="00D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00DC75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34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PASS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37560"/>
            <a:ext cx="2926080" cy="12700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00DC75"/>
                </a:solidFill>
              </a:rPr>
              <a:t>19 / 19  standalone unit tests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00DC75"/>
                </a:solidFill>
              </a:rPr>
              <a:t>8 / 8  integration cases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FFFFFF"/>
                </a:solidFill>
              </a:rPr>
              <a:t>5 / 5  professor demo cases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FFFFFF"/>
                </a:solidFill>
              </a:rPr>
              <a:t>PASS  handoff protocol test</a:t>
            </a:r>
          </a:p>
          <a:p>
            <a:pPr algn="l">
              <a:spcBef>
                <a:spcPts val="700"/>
              </a:spcBef>
            </a:pPr>
            <a:r>
              <a:rPr sz="1400" b="0" i="0">
                <a:solidFill>
                  <a:srgbClr val="FFFFFF"/>
                </a:solidFill>
              </a:rPr>
              <a:t>PASS  one-command gate 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1234440"/>
            <a:ext cx="7726679" cy="5212080"/>
          </a:xfrm>
          <a:prstGeom prst="rect">
            <a:avLst/>
          </a:prstGeom>
          <a:solidFill>
            <a:srgbClr val="1421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325880"/>
            <a:ext cx="7406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Test Category Breakdown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737360"/>
            <a:ext cx="7406640" cy="10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965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Zero / Null Matrix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039111"/>
            <a:ext cx="4389120" cy="256032"/>
          </a:xfrm>
          <a:prstGeom prst="rect">
            <a:avLst/>
          </a:prstGeom>
          <a:solidFill>
            <a:srgbClr val="1E2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2039111"/>
            <a:ext cx="4389120" cy="256032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0" y="1965959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C75"/>
                </a:solidFill>
              </a:rPr>
              <a:t>2/2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58775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Identity Matrix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2660903"/>
            <a:ext cx="4389120" cy="256032"/>
          </a:xfrm>
          <a:prstGeom prst="rect">
            <a:avLst/>
          </a:prstGeom>
          <a:solidFill>
            <a:srgbClr val="1E2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2660903"/>
            <a:ext cx="4389120" cy="256032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0" y="2587751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C75"/>
                </a:solidFill>
              </a:rPr>
              <a:t>3/3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20954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Dense (varied magnitudes)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282695"/>
            <a:ext cx="4389120" cy="256032"/>
          </a:xfrm>
          <a:prstGeom prst="rect">
            <a:avLst/>
          </a:prstGeom>
          <a:solidFill>
            <a:srgbClr val="1E2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3282695"/>
            <a:ext cx="4389120" cy="256032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0" y="3209543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C75"/>
                </a:solidFill>
              </a:rPr>
              <a:t>8/8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8313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Q5.10 Sign Boundary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3904487"/>
            <a:ext cx="4389120" cy="256032"/>
          </a:xfrm>
          <a:prstGeom prst="rect">
            <a:avLst/>
          </a:prstGeom>
          <a:solidFill>
            <a:srgbClr val="1E2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0" y="3904487"/>
            <a:ext cx="4389120" cy="256032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0" y="3831335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C75"/>
                </a:solidFill>
              </a:rPr>
              <a:t>4/4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445312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Negative Elements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526279"/>
            <a:ext cx="4389120" cy="256032"/>
          </a:xfrm>
          <a:prstGeom prst="rect">
            <a:avLst/>
          </a:prstGeom>
          <a:solidFill>
            <a:srgbClr val="1E2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0" y="4526279"/>
            <a:ext cx="4389120" cy="256032"/>
          </a:xfrm>
          <a:prstGeom prst="rect">
            <a:avLst/>
          </a:prstGeom>
          <a:solidFill>
            <a:srgbClr val="00D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0" y="4453127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C75"/>
                </a:solidFill>
              </a:rPr>
              <a:t>2/2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50749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Integration: varied inputs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5148071"/>
            <a:ext cx="4389120" cy="256032"/>
          </a:xfrm>
          <a:prstGeom prst="rect">
            <a:avLst/>
          </a:prstGeom>
          <a:solidFill>
            <a:srgbClr val="1E2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0" y="5148071"/>
            <a:ext cx="438912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64240" y="5074919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</a:rPr>
              <a:t>8/8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569671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Professor Demo Cases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5769863"/>
            <a:ext cx="4389120" cy="256032"/>
          </a:xfrm>
          <a:prstGeom prst="rect">
            <a:avLst/>
          </a:prstGeom>
          <a:solidFill>
            <a:srgbClr val="1E2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0" y="5769863"/>
            <a:ext cx="438912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64240" y="5696711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</a:rPr>
              <a:t>5/5</a:t>
            </a:r>
          </a:p>
        </p:txBody>
      </p:sp>
    </p:spTree>
  </p:cSld>
  <p:clrMapOvr>
    <a:masterClrMapping/>
  </p:clrMapOvr>
  <p:transition spd="med" dur="700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Performance: Cycle Counts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Deterministic execution -- 673 cycles regardless of input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4114800" cy="5212080"/>
          </a:xfrm>
          <a:prstGeom prst="rect">
            <a:avLst/>
          </a:prstGeom>
          <a:solidFill>
            <a:srgbClr val="1E2D4F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FF"/>
                </a:solidFill>
              </a:rPr>
              <a:t>673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EdgeMATX Accelerator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B8"/>
                </a:solidFill>
              </a:rPr>
              <a:t>rv32i + PCPI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87752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BBF24"/>
                </a:solidFill>
              </a:rPr>
              <a:t>7,975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954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Software + MUL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0215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B8"/>
                </a:solidFill>
              </a:rPr>
              <a:t>rv32im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9624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4D4D"/>
                </a:solidFill>
              </a:rPr>
              <a:t>26,130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Software (no 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640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B8"/>
                </a:solidFill>
              </a:rPr>
              <a:t>rv32i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11496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4D4D"/>
                </a:solidFill>
              </a:rPr>
              <a:t>36,246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33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Software (no MUL, dense)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2589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B8"/>
                </a:solidFill>
              </a:rPr>
              <a:t>dense input profile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234440"/>
            <a:ext cx="722376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ycle_coun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7132320" cy="5120640"/>
          </a:xfrm>
          <a:prstGeom prst="rect">
            <a:avLst/>
          </a:prstGeom>
        </p:spPr>
      </p:pic>
    </p:spTree>
  </p:cSld>
  <p:clrMapOvr>
    <a:masterClrMapping/>
  </p:clrMapOvr>
  <p:transition spd="med" dur="70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Performance: Speedup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38-54x over rv32i baseline -- 11.85x over MUL-equipped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749039" cy="2651760"/>
          </a:xfrm>
          <a:prstGeom prst="rect">
            <a:avLst/>
          </a:prstGeom>
          <a:solidFill>
            <a:srgbClr val="14213E"/>
          </a:solidFill>
          <a:ln w="25400">
            <a:solidFill>
              <a:srgbClr val="00D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00DC75"/>
                </a:solidFill>
              </a:rPr>
              <a:t>38.83x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Sparse  vs  rv32i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A4B8"/>
                </a:solidFill>
              </a:rPr>
              <a:t>Identity-sequence benchmark
26,130 -&gt; 673 cycles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234440"/>
            <a:ext cx="3749039" cy="2651760"/>
          </a:xfrm>
          <a:prstGeom prst="rect">
            <a:avLst/>
          </a:prstGeom>
          <a:solidFill>
            <a:srgbClr val="14213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3716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00D4FF"/>
                </a:solidFill>
              </a:rPr>
              <a:t>53.86x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2860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Dense   vs  rv32i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724912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A4B8"/>
                </a:solidFill>
              </a:rPr>
              <a:t>Live dense profile
36,246 -&gt; 673 cycles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6" y="1234440"/>
            <a:ext cx="3749039" cy="2651760"/>
          </a:xfrm>
          <a:prstGeom prst="rect">
            <a:avLst/>
          </a:prstGeom>
          <a:solidFill>
            <a:srgbClr val="14213E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13716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6B35"/>
                </a:solidFill>
              </a:rPr>
              <a:t>11.85x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2860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Any     vs  rv32im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724912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A4B8"/>
                </a:solidFill>
              </a:rPr>
              <a:t>Even against MUL-equipped core
7,975 -&gt; 673 cycles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69080"/>
            <a:ext cx="11430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peedup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14800"/>
            <a:ext cx="11338560" cy="2286000"/>
          </a:xfrm>
          <a:prstGeom prst="rect">
            <a:avLst/>
          </a:prstGeom>
        </p:spPr>
      </p:pic>
    </p:spTree>
  </p:cSld>
  <p:clrMapOvr>
    <a:masterClrMapping/>
  </p:clrMapOvr>
  <p:transition spd="med" dur="700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Interactive Visualizers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Explore the design live in your browser -- click links below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669280" cy="5257800"/>
          </a:xfrm>
          <a:prstGeom prst="rect">
            <a:avLst/>
          </a:prstGeom>
          <a:solidFill>
            <a:srgbClr val="14213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</a:rPr>
              <a:t>Architecture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303520" cy="10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303520" cy="411480"/>
          </a:xfrm>
          <a:prstGeom prst="rect">
            <a:avLst/>
          </a:prstGeom>
          <a:solidFill>
            <a:srgbClr val="080F1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47672"/>
            <a:ext cx="5166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u="sng">
                <a:solidFill>
                  <a:srgbClr val="00D4FF"/>
                </a:solidFill>
                <a:hlinkClick r:id="rId2"/>
              </a:rPr>
              <a:t>  riscv-visualizer-2.vercel.app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FFFFFF"/>
                </a:solidFill>
              </a:rPr>
              <a:t>    High-level system architecture and dataflow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FFFFFF"/>
                </a:solidFill>
              </a:rPr>
              <a:t>    Firmware layer  |  PicoRV32  |  PCPI  |  Systolic Array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FFFFFF"/>
                </a:solidFill>
              </a:rPr>
              <a:t>    Step-through execution with annotations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30352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inyml_accelerator_detailed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355848"/>
            <a:ext cx="5266944" cy="279806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309360" y="1234440"/>
            <a:ext cx="5669280" cy="5257800"/>
          </a:xfrm>
          <a:prstGeom prst="rect">
            <a:avLst/>
          </a:prstGeom>
          <a:solidFill>
            <a:srgbClr val="14213E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</a:rPr>
              <a:t>Processor Signal 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783080"/>
            <a:ext cx="5303520" cy="10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1874519"/>
            <a:ext cx="5303520" cy="411480"/>
          </a:xfrm>
          <a:prstGeom prst="rect">
            <a:avLst/>
          </a:prstGeom>
          <a:solidFill>
            <a:srgbClr val="080F1E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947672"/>
            <a:ext cx="5166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u="sng">
                <a:solidFill>
                  <a:srgbClr val="FF6B35"/>
                </a:solidFill>
                <a:hlinkClick r:id="rId4"/>
              </a:rPr>
              <a:t>  tinyml-pcpi-visualizer.vercel.app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9572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FFFFFF"/>
                </a:solidFill>
              </a:rPr>
              <a:t>    Instruction decode  |  PCPI signal timeline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FFFFFF"/>
                </a:solidFill>
              </a:rPr>
              <a:t>    Accelerator invocation waveform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FFFFFF"/>
                </a:solidFill>
              </a:rPr>
              <a:t>    Systolic array computation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337560"/>
            <a:ext cx="530352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cpi_integration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3355848"/>
            <a:ext cx="5266944" cy="2798064"/>
          </a:xfrm>
          <a:prstGeom prst="rect">
            <a:avLst/>
          </a:prstGeom>
        </p:spPr>
      </p:pic>
    </p:spTree>
  </p:cSld>
  <p:clrMapOvr>
    <a:masterClrMapping/>
  </p:clrMapOvr>
  <p:transition spd="med" dur="70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What's Next: Pynq-Z2 FPGA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Simulation-proven design -&gt; physical hardware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3657600" cy="3474720"/>
          </a:xfrm>
          <a:prstGeom prst="rect">
            <a:avLst/>
          </a:prstGeom>
          <a:solidFill>
            <a:srgbClr val="14213E"/>
          </a:solidFill>
          <a:ln w="25400">
            <a:solidFill>
              <a:srgbClr val="00D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C75"/>
                </a:solidFill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59152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A4B8"/>
                </a:solidFill>
              </a:rPr>
              <a:t>673-cycle verified
behaviour on
Icarus Verilog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5146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90A4B8"/>
                </a:solidFill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1234440"/>
            <a:ext cx="3657600" cy="3474720"/>
          </a:xfrm>
          <a:prstGeom prst="rect">
            <a:avLst/>
          </a:prstGeom>
          <a:solidFill>
            <a:srgbClr val="14213E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2" y="13258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BBF24"/>
                </a:solidFill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171907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FPGA Synthesis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2359152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A4B8"/>
                </a:solidFill>
              </a:rPr>
              <a:t>Map to Pynq-Z2
Xilinx Zynq-7020
Post-synthesis timing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5146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90A4B8"/>
                </a:solidFill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657600" cy="3474720"/>
          </a:xfrm>
          <a:prstGeom prst="rect">
            <a:avLst/>
          </a:prstGeom>
          <a:solidFill>
            <a:srgbClr val="14213E"/>
          </a:solidFill>
          <a:ln w="25400">
            <a:solidFill>
              <a:srgbClr val="90A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13258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0A4B8"/>
                </a:solidFill>
              </a:rPr>
              <a:t>FUTURE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1719072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Scale &amp; 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359152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0A4B8"/>
                </a:solidFill>
              </a:rPr>
              <a:t>On-board cycle counts
AXI-BRAM memory
8x8 array extension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846320"/>
            <a:ext cx="11430000" cy="1691640"/>
          </a:xfrm>
          <a:prstGeom prst="rect">
            <a:avLst/>
          </a:prstGeom>
          <a:solidFill>
            <a:srgbClr val="1E2D4F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91947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Open Items Before Hardware Closure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2180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FFFFFF"/>
                </a:solidFill>
              </a:rPr>
              <a:t>    Cycle-scaling estimator anchor needs updating (869 -&gt; 673)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FFFFFF"/>
                </a:solidFill>
              </a:rPr>
              <a:t>    On-board rdcycle CSR measurements to cross-validate simulation results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FFFFFF"/>
                </a:solidFill>
              </a:rPr>
              <a:t>    AXI-BRAM memory interface replacing software-driven memory reads</a:t>
            </a:r>
          </a:p>
        </p:txBody>
      </p:sp>
    </p:spTree>
  </p:cSld>
  <p:clrMapOvr>
    <a:masterClrMapping/>
  </p:clrMapOvr>
  <p:transition spd="med" dur="700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D4FF"/>
                </a:solidFill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385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B8"/>
                </a:solidFill>
              </a:rPr>
              <a:t>Simulation-complete milestone -- all objectives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B8"/>
                </a:solidFill>
              </a:rPr>
              <a:t>EdgeMATX  |  NITK Surathkal  |  ECE Department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532120" cy="1517904"/>
          </a:xfrm>
          <a:prstGeom prst="rect">
            <a:avLst/>
          </a:prstGeom>
          <a:solidFill>
            <a:srgbClr val="1421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Hardware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19656"/>
            <a:ext cx="5257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4x4 systolic array with 16 Q5.10 fixed-point MACs, implemented in Verilog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34440"/>
            <a:ext cx="5532120" cy="1517904"/>
          </a:xfrm>
          <a:prstGeom prst="rect">
            <a:avLst/>
          </a:prstGeom>
          <a:solidFill>
            <a:srgbClr val="14213E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344168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35"/>
                </a:solidFill>
              </a:rPr>
              <a:t>CPU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19656"/>
            <a:ext cx="5257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Tightly coupled to PicoRV32 via PCPI -- single opcode dispatch, zero overhead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98648"/>
            <a:ext cx="5532120" cy="1517904"/>
          </a:xfrm>
          <a:prstGeom prst="rect">
            <a:avLst/>
          </a:prstGeom>
          <a:solidFill>
            <a:srgbClr val="14213E"/>
          </a:solidFill>
          <a:ln w="19050">
            <a:solidFill>
              <a:srgbClr val="00D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08376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C75"/>
                </a:solidFill>
              </a:rPr>
              <a:t>Deterministic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83864"/>
            <a:ext cx="5257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673-cycle latency, invariant to operand values -- ideal for real-time systems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98648"/>
            <a:ext cx="5532120" cy="1517904"/>
          </a:xfrm>
          <a:prstGeom prst="rect">
            <a:avLst/>
          </a:prstGeom>
          <a:solidFill>
            <a:srgbClr val="14213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3008376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</a:rPr>
              <a:t>Verified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483864"/>
            <a:ext cx="5257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38.83x - 53.86x speedup over rv32i;  11.85x over MUL-equipped rv32im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562856"/>
            <a:ext cx="5532120" cy="1517904"/>
          </a:xfrm>
          <a:prstGeom prst="rect">
            <a:avLst/>
          </a:prstGeom>
          <a:solidFill>
            <a:srgbClr val="14213E"/>
          </a:solidFill>
          <a:ln w="19050">
            <a:solidFill>
              <a:srgbClr val="F06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72584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6AC8"/>
                </a:solidFill>
              </a:rPr>
              <a:t>100% Test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48072"/>
            <a:ext cx="5257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19/19 standalone  |  8/8 integration  |  5/5 professor demo  |  handoff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562856"/>
            <a:ext cx="5532120" cy="1517904"/>
          </a:xfrm>
          <a:prstGeom prst="rect">
            <a:avLst/>
          </a:prstGeom>
          <a:solidFill>
            <a:srgbClr val="14213E"/>
          </a:solidFill>
          <a:ln w="19050">
            <a:solidFill>
              <a:srgbClr val="90A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672584"/>
            <a:ext cx="5257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0A4B8"/>
                </a:solidFill>
              </a:rPr>
              <a:t>Interactive Tooling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148072"/>
            <a:ext cx="5257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Two live web visualizers for architecture walkthrough and signal-level simulation</a:t>
            </a:r>
          </a:p>
        </p:txBody>
      </p:sp>
    </p:spTree>
  </p:cSld>
  <p:clrMapOvr>
    <a:masterClrMapping/>
  </p:clrMapOvr>
  <p:transition spd="med" dur="700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0D4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2926080"/>
            <a:ext cx="8534095" cy="1905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1">
                <a:solidFill>
                  <a:srgbClr val="90A4B8"/>
                </a:solidFill>
              </a:rPr>
              <a:t>Team</a:t>
            </a:r>
          </a:p>
          <a:p>
            <a:pPr algn="l">
              <a:spcBef>
                <a:spcPts val="300"/>
              </a:spcBef>
            </a:pPr>
            <a:r>
              <a:rPr sz="1600" b="1" i="0">
                <a:solidFill>
                  <a:srgbClr val="FFFFFF"/>
                </a:solidFill>
              </a:rPr>
              <a:t>Nishchay Pallav  221EC233</a:t>
            </a:r>
          </a:p>
          <a:p>
            <a:pPr algn="l">
              <a:spcBef>
                <a:spcPts val="300"/>
              </a:spcBef>
            </a:pPr>
            <a:r>
              <a:rPr sz="1600" b="1" i="0">
                <a:solidFill>
                  <a:srgbClr val="FFFFFF"/>
                </a:solidFill>
              </a:rPr>
              <a:t>Mohammad Omar Sulemani  221EC230</a:t>
            </a:r>
          </a:p>
          <a:p>
            <a:pPr algn="l">
              <a:spcBef>
                <a:spcPts val="300"/>
              </a:spcBef>
            </a:pPr>
            <a:r>
              <a:rPr sz="1600" b="1" i="0">
                <a:solidFill>
                  <a:srgbClr val="FFFFFF"/>
                </a:solidFill>
              </a:rPr>
              <a:t>Md Atib Kaif  221EC129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90A4B8"/>
                </a:solidFill>
              </a:rPr>
              <a:t/>
            </a:r>
          </a:p>
          <a:p>
            <a:pPr algn="l"/>
            <a:r>
              <a:rPr sz="1300" b="0" i="1">
                <a:solidFill>
                  <a:srgbClr val="90A4B8"/>
                </a:solidFill>
              </a:rPr>
              <a:t>Guide:  Dr Rathamala Rao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1089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1">
                <a:solidFill>
                  <a:srgbClr val="90A4B8"/>
                </a:solidFill>
              </a:rPr>
              <a:t>Live Visualizers</a:t>
            </a:r>
          </a:p>
          <a:p>
            <a:pPr>
              <a:spcBef>
                <a:spcPts val="600"/>
              </a:spcBef>
            </a:pPr>
            <a:r>
              <a:rPr sz="1300" u="sng">
                <a:solidFill>
                  <a:srgbClr val="00D4FF"/>
                </a:solidFill>
                <a:hlinkClick r:id="rId2"/>
              </a:rPr>
              <a:t>riscv-visualizer-2.vercel.app</a:t>
            </a:r>
          </a:p>
          <a:p>
            <a:pPr>
              <a:spcBef>
                <a:spcPts val="600"/>
              </a:spcBef>
            </a:pPr>
            <a:r>
              <a:rPr sz="1300" u="sng">
                <a:solidFill>
                  <a:srgbClr val="00D4FF"/>
                </a:solidFill>
                <a:hlinkClick r:id="rId3"/>
              </a:rPr>
              <a:t>tinyml-pcpi-visualizer.vercel.app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0A4B8"/>
                </a:solidFill>
              </a:rPr>
              <a:t>Dept. of Electronics &amp; Communication Engineering
National Institute of Technology Karnataka, Surathkal  575025  |  2026</a:t>
            </a:r>
          </a:p>
        </p:txBody>
      </p:sp>
    </p:spTree>
  </p:cSld>
  <p:clrMapOvr>
    <a:masterClrMapping/>
  </p:clrMapOvr>
  <p:transition spd="med" dur="7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