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Cycle Count Comparison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Cycles</c:v>
                </c:pt>
              </c:strCache>
            </c:strRef>
          </c:tx>
          <c:spPr>
            <a:solidFill>
              <a:srgbClr val="00D4FF"/>
            </a:solidFill>
          </c:spPr>
          <c:cat>
            <c:strRef>
              <c:f>Sheet1!$A$2:$A$5</c:f>
              <c:strCache>
                <c:ptCount val="4"/>
                <c:pt idx="0">
                  <c:v>EdgeMATX
(PCPI)</c:v>
                </c:pt>
                <c:pt idx="1">
                  <c:v>SW + MUL
(rv32im)</c:v>
                </c:pt>
                <c:pt idx="2">
                  <c:v>SW no-MUL
(rv32i)</c:v>
                </c:pt>
                <c:pt idx="3">
                  <c:v>SW no-MUL
(dense)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673</c:v>
                </c:pt>
                <c:pt idx="1">
                  <c:v>7975</c:v>
                </c:pt>
                <c:pt idx="2">
                  <c:v>26130</c:v>
                </c:pt>
                <c:pt idx="3">
                  <c:v>36246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00D4FF"/>
                </a:solidFill>
              </a:rPr>
              <a:t>EdgeMATX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Design and Integration of a TinyML Systolic
Accelerator with PicoRV32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37560"/>
            <a:ext cx="7772400" cy="190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1">
                <a:solidFill>
                  <a:srgbClr val="90A4B8"/>
                </a:solidFill>
              </a:rPr>
              <a:t>Submitted by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FFFFFF"/>
                </a:solidFill>
              </a:rPr>
              <a:t>Nishchay Pallav  221EC233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FFFFFF"/>
                </a:solidFill>
              </a:rPr>
              <a:t>Mohammad Omar Sulemani  221EC230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FFFFFF"/>
                </a:solidFill>
              </a:rPr>
              <a:t>Md Atib Kaif  221EC129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Under the Guidance of  Dr Rathamala Rao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4B8"/>
                </a:solidFill>
              </a:rPr>
              <a:t>Dept. of Electronics &amp; Communication Engineering
National Institute of Technology Karnataka, Surathkal — 575025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371600"/>
            <a:ext cx="2743200" cy="41148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155448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</a:rPr>
              <a:t>673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0299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Cycles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51460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C75"/>
                </a:solidFill>
              </a:rPr>
              <a:t>54×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9900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Peak Speedup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4747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B35"/>
                </a:solidFill>
              </a:rPr>
              <a:t>19/19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950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Tests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443484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</a:rPr>
              <a:t>4×4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49103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Systolic Array</a:t>
            </a:r>
          </a:p>
        </p:txBody>
      </p:sp>
    </p:spTree>
  </p:cSld>
  <p:clrMapOvr>
    <a:masterClrMapping/>
  </p:clrMapOvr>
  <p:transition spd="med" dur="7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Matrix multiplication is ubiquitous — and painfully slow on embedded CPUs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·  NITK Surathkal  ·  ECE Department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521208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Where It's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383280" cy="127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FFFFFF"/>
                </a:solidFill>
              </a:rPr>
              <a:t>⚡  TinyML Inference</a:t>
            </a:r>
          </a:p>
          <a:p>
            <a:pPr algn="l">
              <a:spcBef>
                <a:spcPts val="100"/>
              </a:spcBef>
            </a:pPr>
            <a:r>
              <a:rPr sz="1200" b="0" i="1">
                <a:solidFill>
                  <a:srgbClr val="90A4B8"/>
                </a:solidFill>
              </a:rPr>
              <a:t>Neural network layers are dense GEMM ops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FFFFFF"/>
                </a:solidFill>
              </a:rPr>
              <a:t>📡  Digital Signal Processing</a:t>
            </a:r>
          </a:p>
          <a:p>
            <a:pPr algn="l">
              <a:spcBef>
                <a:spcPts val="100"/>
              </a:spcBef>
            </a:pPr>
            <a:r>
              <a:rPr sz="1200" b="0" i="1">
                <a:solidFill>
                  <a:srgbClr val="90A4B8"/>
                </a:solidFill>
              </a:rPr>
              <a:t>Convolution = repeated matrix multiply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FFFFFF"/>
                </a:solidFill>
              </a:rPr>
              <a:t>🔬  Scientific Computing</a:t>
            </a:r>
          </a:p>
          <a:p>
            <a:pPr algn="l">
              <a:spcBef>
                <a:spcPts val="100"/>
              </a:spcBef>
            </a:pPr>
            <a:r>
              <a:rPr sz="1200" b="0" i="1">
                <a:solidFill>
                  <a:srgbClr val="90A4B8"/>
                </a:solidFill>
              </a:rPr>
              <a:t>Linear solvers, transforms — all matrix ops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FFFFFF"/>
                </a:solidFill>
              </a:rPr>
              <a:t>📷  Image Processing</a:t>
            </a:r>
          </a:p>
          <a:p>
            <a:pPr algn="l">
              <a:spcBef>
                <a:spcPts val="100"/>
              </a:spcBef>
            </a:pPr>
            <a:r>
              <a:rPr sz="1200" b="0" i="1">
                <a:solidFill>
                  <a:srgbClr val="90A4B8"/>
                </a:solidFill>
              </a:rPr>
              <a:t>Filters, transforms, feature extraction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931920" cy="5212080"/>
          </a:xfrm>
          <a:prstGeom prst="rect">
            <a:avLst/>
          </a:prstGeom>
          <a:solidFill>
            <a:srgbClr val="14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258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Sequential CPU Execution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783080"/>
            <a:ext cx="3749039" cy="127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3749039" cy="2103120"/>
          </a:xfrm>
          <a:prstGeom prst="rect">
            <a:avLst/>
          </a:prstGeom>
          <a:solidFill>
            <a:srgbClr val="080F1E"/>
          </a:solidFill>
          <a:ln w="635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920240"/>
            <a:ext cx="35661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400" b="0" i="0">
                <a:solidFill>
                  <a:srgbClr val="00DC75"/>
                </a:solidFill>
              </a:rPr>
              <a:t>for i in range(4):</a:t>
            </a:r>
          </a:p>
          <a:p>
            <a:pPr algn="l"/>
            <a:r>
              <a:rPr sz="1400" b="0" i="0">
                <a:solidFill>
                  <a:srgbClr val="00DC75"/>
                </a:solidFill>
              </a:rPr>
              <a:t>  for j in range(4):</a:t>
            </a:r>
          </a:p>
          <a:p>
            <a:pPr algn="l"/>
            <a:r>
              <a:rPr sz="1400" b="0" i="0">
                <a:solidFill>
                  <a:srgbClr val="00DC75"/>
                </a:solidFill>
              </a:rPr>
              <a:t>    for k in range(4):</a:t>
            </a:r>
          </a:p>
          <a:p>
            <a:pPr algn="l"/>
            <a:r>
              <a:rPr sz="1400" b="0" i="0">
                <a:solidFill>
                  <a:srgbClr val="00DC75"/>
                </a:solidFill>
              </a:rPr>
              <a:t>      C[i][j] += A[i][k]</a:t>
            </a:r>
          </a:p>
          <a:p>
            <a:pPr algn="l"/>
            <a:r>
              <a:rPr sz="1400" b="0" i="0">
                <a:solidFill>
                  <a:srgbClr val="00DC75"/>
                </a:solidFill>
              </a:rPr>
              <a:t>             * B[k][j]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069080"/>
            <a:ext cx="37490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FFFFFF"/>
                </a:solidFill>
              </a:rPr>
              <a:t>64 multiply-accumulate ops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90A4B8"/>
                </a:solidFill>
              </a:rPr>
              <a:t>executed one at a time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FF4D4D"/>
                </a:solidFill>
              </a:rPr>
              <a:t>RV32I (no MUL):   26,130 cycles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FBBF24"/>
                </a:solidFill>
              </a:rPr>
              <a:t>RV32IM (with MUL):  7,975 cycles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1234440"/>
            <a:ext cx="3337560" cy="5212080"/>
          </a:xfrm>
          <a:prstGeom prst="rect">
            <a:avLst/>
          </a:prstGeom>
          <a:solidFill>
            <a:srgbClr val="1E2D4F"/>
          </a:solidFill>
          <a:ln w="1270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3258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C75"/>
                </a:solidFill>
              </a:rPr>
              <a:t>The Gap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783080"/>
            <a:ext cx="3154680" cy="1270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2024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4D4D"/>
                </a:solidFill>
              </a:rPr>
              <a:t>26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46888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B8"/>
                </a:solidFill>
              </a:rPr>
              <a:t>cycles wasted per
4×4 multiply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15468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70332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B8"/>
                </a:solidFill>
              </a:rPr>
              <a:t>sequential
execution on CPU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3891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90A4B8"/>
                </a:solidFill>
              </a:rPr>
              <a:t>0×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93776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B8"/>
                </a:solidFill>
              </a:rPr>
              <a:t>hardware
parallelism</a:t>
            </a:r>
          </a:p>
        </p:txBody>
      </p:sp>
    </p:spTree>
  </p:cSld>
  <p:clrMapOvr>
    <a:masterClrMapping/>
  </p:clrMapOvr>
  <p:transition spd="med" dur="7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The Solution: EdgeMATX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A custom PCPI coprocessor tightly coupled to PicoRV32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·  NITK Surathkal  ·  ECE Department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109728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One custom instruction replaces 64 sequential CPU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3749039" cy="274320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⚡  Tightly Coupled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18688"/>
            <a:ext cx="347472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31012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PCPI interface: zero memory-mapped overhead. CPU stalls and resumes — no interrupts, no DMA.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60320"/>
            <a:ext cx="3749039" cy="2743200"/>
          </a:xfrm>
          <a:prstGeom prst="rect">
            <a:avLst/>
          </a:prstGeom>
          <a:solidFill>
            <a:srgbClr val="14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6700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🔲  Systolic Datapath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53128" y="3218688"/>
            <a:ext cx="3474720" cy="1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331012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4×4 array of 16 processing elements. All 16 MACs execute in parallel every clock cycle.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6" y="2560320"/>
            <a:ext cx="3749039" cy="2743200"/>
          </a:xfrm>
          <a:prstGeom prst="rect">
            <a:avLst/>
          </a:prstGeom>
          <a:solidFill>
            <a:srgbClr val="14213E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26700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C75"/>
                </a:solidFill>
              </a:rPr>
              <a:t>🔢  Q5.10 Fixed-Point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03336" y="3218688"/>
            <a:ext cx="3474720" cy="1016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331012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16-bit signed arithmetic. No floating-point hardware needed — ideal for constrained silicon.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32120"/>
            <a:ext cx="11430000" cy="777240"/>
          </a:xfrm>
          <a:prstGeom prst="rect">
            <a:avLst/>
          </a:prstGeom>
          <a:solidFill>
            <a:srgbClr val="001A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673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6418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Deterministic cycles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577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38.83×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6418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Speedup (sparse data)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577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53.86×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56418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Speedup (dense data)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5577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11.85×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56418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Speedup vs MUL-equipped rv32im</a:t>
            </a:r>
          </a:p>
        </p:txBody>
      </p:sp>
    </p:spTree>
  </p:cSld>
  <p:clrMapOvr>
    <a:masterClrMapping/>
  </p:clrMapOvr>
  <p:transition spd="med" dur="7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PicoRV32 + PCPI custom instruction interface + 4×4 systolic accelerator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·  NITK Surathkal  ·  ECE Department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286000" cy="5212080"/>
          </a:xfrm>
          <a:prstGeom prst="rect">
            <a:avLst/>
          </a:prstGeom>
          <a:solidFill>
            <a:srgbClr val="0D2A1A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C75"/>
                </a:solidFill>
              </a:rPr>
              <a:t>Firmware Layer
(RISC-V C code)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</a:rPr>
              <a:t>Load matrix A
→ 0x100–0x13C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</a:rPr>
              <a:t>Load matrix B
→ 0x140–0x17C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</a:rPr>
              <a:t>Execute custom
instruction
0x5420818b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</a:rPr>
              <a:t>Read result C
← 0x200–0x23C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34440"/>
            <a:ext cx="2468880" cy="5212080"/>
          </a:xfrm>
          <a:prstGeom prst="rect">
            <a:avLst/>
          </a:prstGeom>
          <a:solidFill>
            <a:srgbClr val="0A1A3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25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</a:rPr>
              <a:t>PicoRV32
CPU 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920240"/>
            <a:ext cx="228600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01168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</a:rPr>
              <a:t>RV32I ISA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</a:rPr>
              <a:t>ENABLE_PCPI=1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</a:rPr>
              <a:t>ENABLE_MUL=0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</a:rPr>
              <a:t>Custom opcode
decoded &amp;
dispatched via
PCPI signals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</a:rPr>
              <a:t>Stalls until
pcpi_ready=1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3291840"/>
            <a:ext cx="822960" cy="822960"/>
          </a:xfrm>
          <a:prstGeom prst="rect">
            <a:avLst/>
          </a:prstGeom>
          <a:solidFill>
            <a:srgbClr val="1E2D4F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340156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</a:rPr>
              <a:t>PCPI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36499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</a:rPr>
              <a:t>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234440"/>
            <a:ext cx="2651760" cy="5212080"/>
          </a:xfrm>
          <a:prstGeom prst="rect">
            <a:avLst/>
          </a:prstGeom>
          <a:solidFill>
            <a:srgbClr val="1A0A2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1325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35"/>
                </a:solidFill>
              </a:rPr>
              <a:t>PCPI Coprocessor
Wrapper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1920240"/>
            <a:ext cx="2468880" cy="1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011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Detects custom opcode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Drives matrix engine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Issues pcpi_ready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3337560"/>
            <a:ext cx="2468880" cy="2743200"/>
          </a:xfrm>
          <a:prstGeom prst="rect">
            <a:avLst/>
          </a:prstGeom>
          <a:solidFill>
            <a:srgbClr val="2A1045"/>
          </a:solidFill>
          <a:ln w="19050">
            <a:solidFill>
              <a:srgbClr val="F06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34015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6AC8"/>
                </a:solidFill>
              </a:rPr>
              <a:t>4×4 Systolic Array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840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16 Processing Elements
Q5.10 Fixed-Point MACs
Output-Stationary Dataflow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↕ 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1234440"/>
            <a:ext cx="2148840" cy="5212080"/>
          </a:xfrm>
          <a:prstGeom prst="rect">
            <a:avLst/>
          </a:prstGeom>
          <a:solidFill>
            <a:srgbClr val="151A10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132588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C75"/>
                </a:solidFill>
              </a:rPr>
              <a:t>Memory
Map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1920240"/>
            <a:ext cx="1965960" cy="1016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201168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0"/>
              </a:spcBef>
            </a:pPr>
            <a:r>
              <a:rPr sz="1200" b="1" i="0">
                <a:solidFill>
                  <a:srgbClr val="00D4FF"/>
                </a:solidFill>
              </a:rPr>
              <a:t>0x100–0x13C</a:t>
            </a:r>
          </a:p>
          <a:p>
            <a:pPr algn="l">
              <a:spcBef>
                <a:spcPts val="100"/>
              </a:spcBef>
            </a:pPr>
            <a:r>
              <a:rPr sz="1100" b="0" i="1">
                <a:solidFill>
                  <a:srgbClr val="90A4B8"/>
                </a:solidFill>
              </a:rPr>
              <a:t>Matrix A (in)</a:t>
            </a:r>
          </a:p>
          <a:p>
            <a:pPr algn="l">
              <a:spcBef>
                <a:spcPts val="1000"/>
              </a:spcBef>
            </a:pPr>
            <a:r>
              <a:rPr sz="1200" b="1" i="0">
                <a:solidFill>
                  <a:srgbClr val="00D4FF"/>
                </a:solidFill>
              </a:rPr>
              <a:t>0x140–0x17C</a:t>
            </a:r>
          </a:p>
          <a:p>
            <a:pPr algn="l">
              <a:spcBef>
                <a:spcPts val="100"/>
              </a:spcBef>
            </a:pPr>
            <a:r>
              <a:rPr sz="1100" b="0" i="1">
                <a:solidFill>
                  <a:srgbClr val="90A4B8"/>
                </a:solidFill>
              </a:rPr>
              <a:t>Matrix B (in)</a:t>
            </a:r>
          </a:p>
          <a:p>
            <a:pPr algn="l">
              <a:spcBef>
                <a:spcPts val="1000"/>
              </a:spcBef>
            </a:pPr>
            <a:r>
              <a:rPr sz="1200" b="1" i="0">
                <a:solidFill>
                  <a:srgbClr val="00DC75"/>
                </a:solidFill>
              </a:rPr>
              <a:t>0x200–0x23C</a:t>
            </a:r>
          </a:p>
          <a:p>
            <a:pPr algn="l">
              <a:spcBef>
                <a:spcPts val="100"/>
              </a:spcBef>
            </a:pPr>
            <a:r>
              <a:rPr sz="1100" b="0" i="1">
                <a:solidFill>
                  <a:srgbClr val="90A4B8"/>
                </a:solidFill>
              </a:rPr>
              <a:t>Matrix C (out)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566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C75"/>
                </a:solidFill>
              </a:rPr>
              <a:t>↔</a:t>
            </a:r>
          </a:p>
        </p:txBody>
      </p:sp>
    </p:spTree>
  </p:cSld>
  <p:clrMapOvr>
    <a:masterClrMapping/>
  </p:clrMapOvr>
  <p:transition spd="med" dur="7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PCPI: The Custom Instruction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Pico Co-Processor Interface — zero-cost hardware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·  NITK Surathkal  ·  ECE Department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212080"/>
          </a:xfrm>
          <a:prstGeom prst="rect">
            <a:avLst/>
          </a:prstGeom>
          <a:solidFill>
            <a:srgbClr val="14213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Interface Signals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5029200" cy="1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400" b="1" i="0">
                <a:solidFill>
                  <a:srgbClr val="00D4FF"/>
                </a:solidFill>
              </a:rPr>
              <a:t>▸ pcpi_valid</a:t>
            </a:r>
          </a:p>
          <a:p>
            <a:pPr algn="l"/>
            <a:r>
              <a:rPr sz="1100" b="0" i="0">
                <a:solidFill>
                  <a:srgbClr val="90A4B8"/>
                </a:solidFill>
              </a:rPr>
              <a:t>   CPU → CoPro  ·  Custom instruction detected</a:t>
            </a:r>
          </a:p>
          <a:p>
            <a:pPr algn="l">
              <a:spcBef>
                <a:spcPts val="500"/>
              </a:spcBef>
            </a:pPr>
            <a:r>
              <a:rPr sz="1400" b="1" i="0">
                <a:solidFill>
                  <a:srgbClr val="00D4FF"/>
                </a:solidFill>
              </a:rPr>
              <a:t>▸ pcpi_insn</a:t>
            </a:r>
          </a:p>
          <a:p>
            <a:pPr algn="l"/>
            <a:r>
              <a:rPr sz="1100" b="0" i="0">
                <a:solidFill>
                  <a:srgbClr val="90A4B8"/>
                </a:solidFill>
              </a:rPr>
              <a:t>   CPU → CoPro  ·  Full 32-bit instruction word</a:t>
            </a:r>
          </a:p>
          <a:p>
            <a:pPr algn="l">
              <a:spcBef>
                <a:spcPts val="500"/>
              </a:spcBef>
            </a:pPr>
            <a:r>
              <a:rPr sz="1400" b="1" i="0">
                <a:solidFill>
                  <a:srgbClr val="00D4FF"/>
                </a:solidFill>
              </a:rPr>
              <a:t>▸ pcpi_rs1</a:t>
            </a:r>
          </a:p>
          <a:p>
            <a:pPr algn="l"/>
            <a:r>
              <a:rPr sz="1100" b="0" i="0">
                <a:solidFill>
                  <a:srgbClr val="90A4B8"/>
                </a:solidFill>
              </a:rPr>
              <a:t>   CPU → CoPro  ·  Source register rs1 (matrix A addr)</a:t>
            </a:r>
          </a:p>
          <a:p>
            <a:pPr algn="l">
              <a:spcBef>
                <a:spcPts val="500"/>
              </a:spcBef>
            </a:pPr>
            <a:r>
              <a:rPr sz="1400" b="1" i="0">
                <a:solidFill>
                  <a:srgbClr val="00D4FF"/>
                </a:solidFill>
              </a:rPr>
              <a:t>▸ pcpi_rs2</a:t>
            </a:r>
          </a:p>
          <a:p>
            <a:pPr algn="l"/>
            <a:r>
              <a:rPr sz="1100" b="0" i="0">
                <a:solidFill>
                  <a:srgbClr val="90A4B8"/>
                </a:solidFill>
              </a:rPr>
              <a:t>   CPU → CoPro  ·  Source register rs2 (matrix B addr)</a:t>
            </a:r>
          </a:p>
          <a:p>
            <a:pPr algn="l">
              <a:spcBef>
                <a:spcPts val="500"/>
              </a:spcBef>
            </a:pPr>
            <a:r>
              <a:rPr sz="1400" b="1" i="0">
                <a:solidFill>
                  <a:srgbClr val="FF6B35"/>
                </a:solidFill>
              </a:rPr>
              <a:t>▸ pcpi_wr</a:t>
            </a:r>
          </a:p>
          <a:p>
            <a:pPr algn="l"/>
            <a:r>
              <a:rPr sz="1100" b="0" i="0">
                <a:solidFill>
                  <a:srgbClr val="90A4B8"/>
                </a:solidFill>
              </a:rPr>
              <a:t>   CoPro → CPU  ·  Write result back to rd</a:t>
            </a:r>
          </a:p>
          <a:p>
            <a:pPr algn="l">
              <a:spcBef>
                <a:spcPts val="500"/>
              </a:spcBef>
            </a:pPr>
            <a:r>
              <a:rPr sz="1400" b="1" i="0">
                <a:solidFill>
                  <a:srgbClr val="FF6B35"/>
                </a:solidFill>
              </a:rPr>
              <a:t>▸ pcpi_rd</a:t>
            </a:r>
          </a:p>
          <a:p>
            <a:pPr algn="l"/>
            <a:r>
              <a:rPr sz="1100" b="0" i="0">
                <a:solidFill>
                  <a:srgbClr val="90A4B8"/>
                </a:solidFill>
              </a:rPr>
              <a:t>   CoPro → CPU  ·  Result value (unused in EdgeMATX)</a:t>
            </a:r>
          </a:p>
          <a:p>
            <a:pPr algn="l">
              <a:spcBef>
                <a:spcPts val="500"/>
              </a:spcBef>
            </a:pPr>
            <a:r>
              <a:rPr sz="1400" b="1" i="0">
                <a:solidFill>
                  <a:srgbClr val="00DC75"/>
                </a:solidFill>
              </a:rPr>
              <a:t>▸ pcpi_ready</a:t>
            </a:r>
          </a:p>
          <a:p>
            <a:pPr algn="l"/>
            <a:r>
              <a:rPr sz="1100" b="0" i="0">
                <a:solidFill>
                  <a:srgbClr val="90A4B8"/>
                </a:solidFill>
              </a:rPr>
              <a:t>   CoPro → CPU  ·  Computation done — CPU resumes</a:t>
            </a:r>
          </a:p>
          <a:p>
            <a:pPr algn="l">
              <a:spcBef>
                <a:spcPts val="500"/>
              </a:spcBef>
            </a:pPr>
            <a:r>
              <a:rPr sz="1400" b="1" i="0">
                <a:solidFill>
                  <a:srgbClr val="90A4B8"/>
                </a:solidFill>
              </a:rPr>
              <a:t>▸ pcpi_wait</a:t>
            </a:r>
          </a:p>
          <a:p>
            <a:pPr algn="l"/>
            <a:r>
              <a:rPr sz="1100" b="0" i="0">
                <a:solidFill>
                  <a:srgbClr val="90A4B8"/>
                </a:solidFill>
              </a:rPr>
              <a:t>   CoPro → CPU  ·  Hold CPU stall (optional)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34440"/>
            <a:ext cx="5943600" cy="5212080"/>
          </a:xfrm>
          <a:prstGeom prst="rect">
            <a:avLst/>
          </a:prstGeom>
          <a:solidFill>
            <a:srgbClr val="1E2D4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3258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Execution Handshake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737360"/>
            <a:ext cx="566928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384048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87451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11095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CPU fetches custom instruction 0x5420818b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514599"/>
            <a:ext cx="384048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51459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51175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pcpi_valid=1, instruction + rs1/rs2 broadcast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154679"/>
            <a:ext cx="384048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15467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91255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CPU stalls — waiting for pcpi_ready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794759"/>
            <a:ext cx="384048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79475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831335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Coprocessor reads matrix A &amp; B from 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4434839"/>
            <a:ext cx="384048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443483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471415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4×4 systolic array computes all 16 dot products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5074919"/>
            <a:ext cx="384048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507491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111495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Results written to matrix C region (0x200–0x23C)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5714999"/>
            <a:ext cx="384048" cy="384048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571499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751575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pcpi_ready=1  →  CPU resumes next instruction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5715000"/>
            <a:ext cx="5669280" cy="475488"/>
          </a:xfrm>
          <a:prstGeom prst="rect">
            <a:avLst/>
          </a:prstGeom>
          <a:solidFill>
            <a:srgbClr val="080F1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57607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Custom opcode:  0x5420818b  (custom-0 space, opcode 0001011)</a:t>
            </a:r>
          </a:p>
        </p:txBody>
      </p:sp>
    </p:spTree>
  </p:cSld>
  <p:clrMapOvr>
    <a:masterClrMapping/>
  </p:clrMapOvr>
  <p:transition spd="med" dur="7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The 4×4 Systolic Array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16 parallel Processing Elements — output-stationary dataflow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·  NITK Surathkal  ·  ECE Department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35"/>
                </a:solidFill>
              </a:rPr>
              <a:t>B col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18872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35"/>
                </a:solidFill>
              </a:rPr>
              <a:t>B col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8132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18872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35"/>
                </a:solidFill>
              </a:rPr>
              <a:t>B col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8132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18872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35"/>
                </a:solidFill>
              </a:rPr>
              <a:t>B col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48132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1581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A row 0 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32588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46304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PE
[0,0]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89280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162763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B8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167128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132588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146304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PE
[0,1]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189280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0008" y="162763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B8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2167128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132588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146304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PE
[0,2]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189280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5848" y="162763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B8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2928" y="2167128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132588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146304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PE
[0,3]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189280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8768" y="2167128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15819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C75"/>
                </a:solidFill>
              </a:rPr>
              <a:t>→ C row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2587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A row 1  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33172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246888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</a:rPr>
              <a:t>PE
[1,0]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289864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263347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B8"/>
                </a:solidFill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3172968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08760" y="233172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08760" y="246888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</a:rPr>
              <a:t>PE
[1,1]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289864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50008" y="263347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B8"/>
                </a:solidFill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47088" y="3172968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4600" y="233172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14600" y="246888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</a:rPr>
              <a:t>PE
[1,2]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14600" y="289864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55848" y="263347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B8"/>
                </a:solidFill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52928" y="3172968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233172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20440" y="246888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</a:rPr>
              <a:t>PE
[1,3]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0440" y="289864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58768" y="3172968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6280" y="25877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C75"/>
                </a:solidFill>
              </a:rPr>
              <a:t>→ C row 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0" y="3593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A row 2  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33756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347472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C75"/>
                </a:solidFill>
              </a:rPr>
              <a:t>PE
[2,0]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390448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44168" y="36393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B8"/>
                </a:solidFill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4178808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08760" y="333756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08760" y="347472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C75"/>
                </a:solidFill>
              </a:rPr>
              <a:t>PE
[2,1]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08760" y="390448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50008" y="36393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B8"/>
                </a:solidFill>
              </a:rPr>
              <a:t>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47088" y="4178808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14600" y="333756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14600" y="347472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C75"/>
                </a:solidFill>
              </a:rPr>
              <a:t>PE
[2,2]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14600" y="390448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55848" y="36393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B8"/>
                </a:solidFill>
              </a:rPr>
              <a:t>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52928" y="4178808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20440" y="333756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20440" y="347472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C75"/>
                </a:solidFill>
              </a:rPr>
              <a:t>PE
[2,3]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20440" y="390448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58768" y="4178808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26280" y="35935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C75"/>
                </a:solidFill>
              </a:rPr>
              <a:t>→ C row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0" y="45994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A row 3  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434340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F06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448056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6AC8"/>
                </a:solidFill>
              </a:rPr>
              <a:t>PE
[3,0]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491032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44168" y="46451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B8"/>
                </a:solidFill>
              </a:rPr>
              <a:t>→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08760" y="434340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F06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08760" y="448056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6AC8"/>
                </a:solidFill>
              </a:rPr>
              <a:t>PE
[3,1]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08760" y="491032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50008" y="46451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B8"/>
                </a:solidFill>
              </a:rPr>
              <a:t>→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514600" y="434340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F06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514600" y="448056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6AC8"/>
                </a:solidFill>
              </a:rPr>
              <a:t>PE
[3,2]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514600" y="491032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55848" y="46451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B8"/>
                </a:solidFill>
              </a:rPr>
              <a:t>→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520440" y="4343400"/>
            <a:ext cx="841248" cy="841248"/>
          </a:xfrm>
          <a:prstGeom prst="rect">
            <a:avLst/>
          </a:prstGeom>
          <a:solidFill>
            <a:srgbClr val="182545"/>
          </a:solidFill>
          <a:ln w="19050">
            <a:solidFill>
              <a:srgbClr val="F06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20440" y="4480560"/>
            <a:ext cx="841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6AC8"/>
                </a:solidFill>
              </a:rPr>
              <a:t>PE
[3,3]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20440" y="491032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B8"/>
                </a:solidFill>
              </a:rPr>
              <a:t>MAC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26280" y="45994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C75"/>
                </a:solidFill>
              </a:rPr>
              <a:t>→ C row 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32120" y="1234440"/>
            <a:ext cx="6293815" cy="521208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69280" y="1325880"/>
            <a:ext cx="6065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How It Works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0" y="1737360"/>
            <a:ext cx="6065215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69280" y="1828800"/>
            <a:ext cx="6065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▸ Output-stationary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Each PE accumulates its partial sum for C[i,j] in place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▸ Row broadcast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Row i of matrix A flows right across row i of PEs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▸ Column broadcast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Column j of matrix B flows down column j of PEs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▸ Parallel MACs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All 16 PEs execute simultaneously every clock cycle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▸ Deterministic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673 cycles regardless of operand values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FF6B35"/>
                </a:solidFill>
              </a:rPr>
              <a:t>▸ 16-bit Q5.10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FFFFFF"/>
                </a:solidFill>
              </a:rPr>
              <a:t>  Multiply → shift-right 10 → accumulate → truncate</a:t>
            </a:r>
          </a:p>
        </p:txBody>
      </p:sp>
    </p:spTree>
  </p:cSld>
  <p:clrMapOvr>
    <a:masterClrMapping/>
  </p:clrMapOvr>
  <p:transition spd="med" dur="7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Q5.10 Fixed-Point Arithmetic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16-bit two's complement — integer simplicity, fractional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·  NITK Surathkal  ·  ECE Department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713232" cy="685800"/>
          </a:xfrm>
          <a:prstGeom prst="rect">
            <a:avLst/>
          </a:prstGeom>
          <a:solidFill>
            <a:srgbClr val="FF4D4D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92224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2224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2224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05456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05456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5456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8688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18688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8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1325880"/>
            <a:ext cx="713232" cy="685800"/>
          </a:xfrm>
          <a:prstGeom prst="rect">
            <a:avLst/>
          </a:prstGeom>
          <a:solidFill>
            <a:srgbClr val="FF6B35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I0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45152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58384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58384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4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71616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71616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1616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84848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0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11312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1312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24544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24544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24544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37776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37776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37776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351008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51008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51008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064240" y="1325880"/>
            <a:ext cx="713232" cy="68580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64240" y="1444752"/>
            <a:ext cx="71323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F0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202996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A4B8"/>
                </a:solidFill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2286000"/>
            <a:ext cx="713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D4D"/>
                </a:solidFill>
              </a:rPr>
              <a:t>Sign (1 bit)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22860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</a:rPr>
              <a:t>Integer part  (5 bits)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2860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</a:rPr>
              <a:t>Fractional part  (10 bits)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017520"/>
            <a:ext cx="2834640" cy="9144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Range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−32.0  to  +31.999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10128" y="3017520"/>
            <a:ext cx="2834640" cy="9144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01568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Resolution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01568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 / 1024  ≈  0.001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54496" y="3017520"/>
            <a:ext cx="2834640" cy="9144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45936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Format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45936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16-bit signed integer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98864" y="3017520"/>
            <a:ext cx="2834640" cy="91440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90304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Scaling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90304" y="3401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Multiply → shift right 10 bits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114800"/>
            <a:ext cx="11430000" cy="2103120"/>
          </a:xfrm>
          <a:prstGeom prst="rect">
            <a:avLst/>
          </a:prstGeom>
          <a:solidFill>
            <a:srgbClr val="1E2D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418795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Processing Element MAC Operation  (per clock cycle):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①  Multiply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495604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a_in × b_in  →  32-bit signed product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55848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②  Scale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55848" y="495604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product &gt;&gt;&gt; 10  (arithmetic right-shift corrects Q5.10 format)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08776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③  Accumulate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08776" y="495604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acc +=  scaled_product  (32-bit running sum)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61704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④  Pass through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61704" y="495604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a_out ← a_in  ;  b_out ← b_in  (feed neighbours)</a:t>
            </a:r>
          </a:p>
        </p:txBody>
      </p:sp>
    </p:spTree>
  </p:cSld>
  <p:clrMapOvr>
    <a:masterClrMapping/>
  </p:clrMapOvr>
  <p:transition spd="med" dur="7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Verification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Four-layer simulation campaign — from unit tests to full system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·  NITK Surathkal  ·  ECE Department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1170432"/>
          </a:xfrm>
          <a:prstGeom prst="rect">
            <a:avLst/>
          </a:prstGeom>
          <a:solidFill>
            <a:srgbClr val="14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08176"/>
            <a:ext cx="50292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A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25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</a:rPr>
              <a:t>Layer 4  ·  Performance Benchmarking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64792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Cycle-count measurement against two software baselines (no-MUL and MUL-equipped).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0" y="1554480"/>
            <a:ext cx="169164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159105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673 cycles measured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96312"/>
            <a:ext cx="10881360" cy="1170432"/>
          </a:xfrm>
          <a:prstGeom prst="rect">
            <a:avLst/>
          </a:prstGeom>
          <a:solidFill>
            <a:srgbClr val="14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70048"/>
            <a:ext cx="50292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70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A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8775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</a:rPr>
              <a:t>Layer 3  ·  Protocol Handoff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26664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Isolated test of PCPI signal handshake — pcpi_valid, pcpi_ready, pcpi_insn correctness.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2816352"/>
            <a:ext cx="169164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8529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758184"/>
            <a:ext cx="10332720" cy="1170432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3931920"/>
            <a:ext cx="5029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A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849624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</a:rPr>
              <a:t>Layer 2  ·  CPU Integration 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88536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Full system simulation: PicoRV32 + PCPI wrapper + accelerator. 8 input profiles.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4078224"/>
            <a:ext cx="169164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411480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8 / 8 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5020056"/>
            <a:ext cx="9784080" cy="1170432"/>
          </a:xfrm>
          <a:prstGeom prst="rect">
            <a:avLst/>
          </a:prstGeom>
          <a:solidFill>
            <a:srgbClr val="14213E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80160" y="5193792"/>
            <a:ext cx="502920" cy="50292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1937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142A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111496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C75"/>
                </a:solidFill>
              </a:rPr>
              <a:t>Layer 1  ·  Standalone Unit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550408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Accelerator module in isolation. Zero, identity, dense, boundary, negative-element cases.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5340096"/>
            <a:ext cx="1691640" cy="45720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537667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42A"/>
                </a:solidFill>
              </a:rPr>
              <a:t>19 / 19 PASS</a:t>
            </a:r>
          </a:p>
        </p:txBody>
      </p:sp>
    </p:spTree>
  </p:cSld>
  <p:clrMapOvr>
    <a:masterClrMapping/>
  </p:clrMapOvr>
  <p:transition spd="med" dur="7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Verification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100% pass rate across all test flows — simulation-complete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·  NITK Surathkal  ·  ECE Department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474720" cy="5212080"/>
          </a:xfrm>
          <a:prstGeom prst="rect">
            <a:avLst/>
          </a:prstGeom>
          <a:solidFill>
            <a:srgbClr val="002010"/>
          </a:solidFill>
          <a:ln w="2540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DC75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PASS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37560"/>
            <a:ext cx="2926080" cy="12700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00DC75"/>
                </a:solidFill>
              </a:rPr>
              <a:t>19 / 19  standalone unit tests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00DC75"/>
                </a:solidFill>
              </a:rPr>
              <a:t>8 / 8  integration cases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FFFFFF"/>
                </a:solidFill>
              </a:rPr>
              <a:t>5 / 5  professor demo cases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FFFFFF"/>
                </a:solidFill>
              </a:rPr>
              <a:t>✓  handoff protocol test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FFFFFF"/>
                </a:solidFill>
              </a:rPr>
              <a:t>✓  one-command gate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234440"/>
            <a:ext cx="7726679" cy="5212080"/>
          </a:xfrm>
          <a:prstGeom prst="rect">
            <a:avLst/>
          </a:prstGeom>
          <a:solidFill>
            <a:srgbClr val="14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32588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Test Category Breakdown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737360"/>
            <a:ext cx="740664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96595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Zero / Null Matrix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039111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2039111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0" y="1965959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2/2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587751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Identity Matrix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660903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2660903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0" y="2587751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3/3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209543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Dense (varied magnitudes)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282695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3282695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0" y="3209543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8/8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831335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Q5.10 Sign 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904487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3904487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0" y="3831335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4/4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453127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Negative Elements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526279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4526279"/>
            <a:ext cx="4389120" cy="256032"/>
          </a:xfrm>
          <a:prstGeom prst="rect">
            <a:avLst/>
          </a:prstGeom>
          <a:solidFill>
            <a:srgbClr val="00D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64240" y="4453127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C75"/>
                </a:solidFill>
              </a:rPr>
              <a:t>2/2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0749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Integration: varied inputs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5148071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5148071"/>
            <a:ext cx="438912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64240" y="5074919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8/8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5696711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Professor Demo Cases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5769863"/>
            <a:ext cx="4389120" cy="256032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0" y="5769863"/>
            <a:ext cx="438912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64240" y="5696711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5/5</a:t>
            </a:r>
          </a:p>
        </p:txBody>
      </p:sp>
    </p:spTree>
  </p:cSld>
  <p:clrMapOvr>
    <a:masterClrMapping/>
  </p:clrMapOvr>
  <p:transition spd="med" dur="7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Performance: Cycle Counts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Deterministic execution — 673 cycles regardless of input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·  NITK Surathkal  ·  ECE Department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114800" cy="5212080"/>
          </a:xfrm>
          <a:prstGeom prst="rect">
            <a:avLst/>
          </a:prstGeom>
          <a:solidFill>
            <a:srgbClr val="1E2D4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</a:rPr>
              <a:t>673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EdgeMATX Accelerator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B8"/>
                </a:solidFill>
              </a:rPr>
              <a:t>rv32i + PCPI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87752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BBF24"/>
                </a:solidFill>
              </a:rPr>
              <a:t>7,975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95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Software + MUL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02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B8"/>
                </a:solidFill>
              </a:rPr>
              <a:t>rv32im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9624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4D4D"/>
                </a:solidFill>
              </a:rPr>
              <a:t>26,130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714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Software (no MUL)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640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B8"/>
                </a:solidFill>
              </a:rPr>
              <a:t>rv32i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11496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4D4D"/>
                </a:solidFill>
              </a:rPr>
              <a:t>36,246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33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Software (no MUL, dense)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25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A4B8"/>
                </a:solidFill>
              </a:rPr>
              <a:t>dense profile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663440" y="1234440"/>
          <a:ext cx="722376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 dur="7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Performance: Speedup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38–54× over rv32i software baseline — 11.85× over MUL-equipped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·  NITK Surathkal  ·  ECE Department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749039" cy="2834640"/>
          </a:xfrm>
          <a:prstGeom prst="rect">
            <a:avLst/>
          </a:prstGeom>
          <a:solidFill>
            <a:srgbClr val="14213E"/>
          </a:solidFill>
          <a:ln w="2540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DC75"/>
                </a:solidFill>
              </a:rPr>
              <a:t>38.83×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Sparse  vs  rv32i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0779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A4B8"/>
                </a:solidFill>
              </a:rPr>
              <a:t>Identity-sequence benchmark
26,130 → 673 cycles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234440"/>
            <a:ext cx="3749039" cy="2834640"/>
          </a:xfrm>
          <a:prstGeom prst="rect">
            <a:avLst/>
          </a:prstGeom>
          <a:solidFill>
            <a:srgbClr val="1421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41732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D4FF"/>
                </a:solidFill>
              </a:rPr>
              <a:t>53.86×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423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Dense   vs  rv32i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90779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A4B8"/>
                </a:solidFill>
              </a:rPr>
              <a:t>Live dense profile
36,246 → 673 cycles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6176" y="1234440"/>
            <a:ext cx="3749039" cy="2834640"/>
          </a:xfrm>
          <a:prstGeom prst="rect">
            <a:avLst/>
          </a:prstGeom>
          <a:solidFill>
            <a:srgbClr val="14213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41732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6B35"/>
                </a:solidFill>
              </a:rPr>
              <a:t>11.85×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423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Any     vs  rv32im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90779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A4B8"/>
                </a:solidFill>
              </a:rPr>
              <a:t>Even against MUL-equipped core
7,975 → 673 cycles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11430000" cy="2194560"/>
          </a:xfrm>
          <a:prstGeom prst="rect">
            <a:avLst/>
          </a:prstGeom>
          <a:solidFill>
            <a:srgbClr val="1E2D4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31596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Consolidated Speedup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817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A4B8"/>
                </a:solidFill>
              </a:rPr>
              <a:t>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6817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A4B8"/>
                </a:solidFill>
              </a:rPr>
              <a:t>EdgeMATX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6817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A4B8"/>
                </a:solidFill>
              </a:rPr>
              <a:t>SW (no MUL)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6817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A4B8"/>
                </a:solidFill>
              </a:rPr>
              <a:t>SW (MUL)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6817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A4B8"/>
                </a:solidFill>
              </a:rPr>
              <a:t>Speedup vs no-MUL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6817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A4B8"/>
                </a:solidFill>
              </a:rPr>
              <a:t>Speedup vs MUL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4748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identity_x_sequence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04748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673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04748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D4D"/>
                </a:solidFill>
              </a:rPr>
              <a:t>26,130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04748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BBF24"/>
                </a:solidFill>
              </a:rPr>
              <a:t>7,975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04748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C75"/>
                </a:solidFill>
              </a:rPr>
              <a:t>38.83×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504748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</a:rPr>
              <a:t>11.85×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50468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live_real_input (dense)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50468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673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50468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D4D"/>
                </a:solidFill>
              </a:rPr>
              <a:t>36,246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50468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BBF24"/>
                </a:solidFill>
              </a:rPr>
              <a:t>7,975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50468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C75"/>
                </a:solidFill>
              </a:rPr>
              <a:t>53.86×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550468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</a:rPr>
              <a:t>11.85×</a:t>
            </a:r>
          </a:p>
        </p:txBody>
      </p:sp>
    </p:spTree>
  </p:cSld>
  <p:clrMapOvr>
    <a:masterClrMapping/>
  </p:clrMapOvr>
  <p:transition spd="med" dur="7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Interactive Visualizers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Explore the design live in your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·  NITK Surathkal  ·  ECE Department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5212080"/>
          </a:xfrm>
          <a:prstGeom prst="rect">
            <a:avLst/>
          </a:prstGeom>
          <a:solidFill>
            <a:srgbClr val="1421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</a:rPr>
              <a:t>Architecture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03520" cy="1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303520" cy="475488"/>
          </a:xfrm>
          <a:prstGeom prst="rect">
            <a:avLst/>
          </a:prstGeom>
          <a:solidFill>
            <a:srgbClr val="080F1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842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🔗  riscv-visualizer-2.vercel.app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FFFFFF"/>
                </a:solidFill>
              </a:rPr>
              <a:t>▸  High-level system architecture and dataflow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FFFFFF"/>
                </a:solidFill>
              </a:rPr>
              <a:t>▸  Firmware layer · PicoRV32 · PCPI · Systolic Array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FFFFFF"/>
                </a:solidFill>
              </a:rPr>
              <a:t>▸  Step-through execution with annotations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94760"/>
            <a:ext cx="5303520" cy="1691640"/>
          </a:xfrm>
          <a:prstGeom prst="rect">
            <a:avLst/>
          </a:prstGeom>
          <a:solidFill>
            <a:srgbClr val="08101C"/>
          </a:solidFill>
          <a:ln w="1016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0A4B8"/>
                </a:solidFill>
              </a:rPr>
              <a:t>[ Open in browser to view live simulation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5669280" cy="5212080"/>
          </a:xfrm>
          <a:prstGeom prst="rect">
            <a:avLst/>
          </a:prstGeom>
          <a:solidFill>
            <a:srgbClr val="14213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25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</a:rPr>
              <a:t>Processor Signal Simulation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5303520" cy="1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920240"/>
            <a:ext cx="5303520" cy="475488"/>
          </a:xfrm>
          <a:prstGeom prst="rect">
            <a:avLst/>
          </a:prstGeom>
          <a:solidFill>
            <a:srgbClr val="080F1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9842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🔗  tinyml-pcpi-visualizer.vercel.app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146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FFFFFF"/>
                </a:solidFill>
              </a:rPr>
              <a:t>▸  Instruction decode · PCPI signal timeline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FFFFFF"/>
                </a:solidFill>
              </a:rPr>
              <a:t>▸  Accelerator invocation waveform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FFFFFF"/>
                </a:solidFill>
              </a:rPr>
              <a:t>▸  Systolic array computation 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794760"/>
            <a:ext cx="5303520" cy="1691640"/>
          </a:xfrm>
          <a:prstGeom prst="rect">
            <a:avLst/>
          </a:prstGeom>
          <a:solidFill>
            <a:srgbClr val="08101C"/>
          </a:solidFill>
          <a:ln w="1016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389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0A4B8"/>
                </a:solidFill>
              </a:rPr>
              <a:t>[ Open in browser to view live simulation ]</a:t>
            </a:r>
          </a:p>
        </p:txBody>
      </p:sp>
    </p:spTree>
  </p:cSld>
  <p:clrMapOvr>
    <a:masterClrMapping/>
  </p:clrMapOvr>
  <p:transition spd="med" dur="7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What's Next: Pynq-Z2 FPGA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Simulation-proven design → physical hardware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·  NITK Surathkal  ·  ECE Department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657600" cy="3474720"/>
          </a:xfrm>
          <a:prstGeom prst="rect">
            <a:avLst/>
          </a:prstGeom>
          <a:solidFill>
            <a:srgbClr val="14213E"/>
          </a:solidFill>
          <a:ln w="2540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C75"/>
                </a:solidFill>
              </a:rPr>
              <a:t>✅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A4B8"/>
                </a:solidFill>
              </a:rPr>
              <a:t>673-cycle verified
behaviour on
Icarus Verilog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90A4B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3657600" cy="3474720"/>
          </a:xfrm>
          <a:prstGeom prst="rect">
            <a:avLst/>
          </a:prstGeom>
          <a:solidFill>
            <a:srgbClr val="14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🔜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17190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FPGA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359152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A4B8"/>
                </a:solidFill>
              </a:rPr>
              <a:t>Map to Pynq-Z2
Xilinx Zynq-7020
Post-synthesis 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90A4B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1234440"/>
            <a:ext cx="3657600" cy="3474720"/>
          </a:xfrm>
          <a:prstGeom prst="rect">
            <a:avLst/>
          </a:prstGeom>
          <a:solidFill>
            <a:srgbClr val="14213E"/>
          </a:solidFill>
          <a:ln w="2540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0A4B8"/>
                </a:solidFill>
              </a:rPr>
              <a:t>🔭 FUTURE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7190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Scale &amp;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359152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A4B8"/>
                </a:solidFill>
              </a:rPr>
              <a:t>On-board cycle counts
AXI/BRAM memory
8×8 array extension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46320"/>
            <a:ext cx="11430000" cy="1691640"/>
          </a:xfrm>
          <a:prstGeom prst="rect">
            <a:avLst/>
          </a:prstGeom>
          <a:solidFill>
            <a:srgbClr val="1E2D4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1947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Open Items Before Hardware 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21808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</a:rPr>
              <a:t>▸  Cycle-scaling estimator anchor needs updating (869 → 673 cycles)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</a:rPr>
              <a:t>▸  On-board rdcycle CSR measurements to cross-validate simulation results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</a:rPr>
              <a:t>▸  AXI-BRAM memory interface replacing software-driven memory reads</a:t>
            </a:r>
          </a:p>
        </p:txBody>
      </p:sp>
    </p:spTree>
  </p:cSld>
  <p:clrMapOvr>
    <a:masterClrMapping/>
  </p:clrMapOvr>
  <p:transition spd="med" dur="7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38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B8"/>
                </a:solidFill>
              </a:rPr>
              <a:t>Simulation-complete milestone — all objectives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4B8"/>
                </a:solidFill>
              </a:rPr>
              <a:t>EdgeMATX  ·  NITK Surathkal  ·  ECE Department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32120" cy="1261872"/>
          </a:xfrm>
          <a:prstGeom prst="rect">
            <a:avLst/>
          </a:prstGeom>
          <a:solidFill>
            <a:srgbClr val="14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Hardware Accelerator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4×4 systolic array with 16 Q5.10 fixed-point MACs, implemented in Verilog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34440"/>
            <a:ext cx="5532120" cy="1261872"/>
          </a:xfrm>
          <a:prstGeom prst="rect">
            <a:avLst/>
          </a:prstGeom>
          <a:solidFill>
            <a:srgbClr val="14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325880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CPU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64792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Tightly coupled to PicoRV32 via PCPI custom instruction — single opcode dispatch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5532120" cy="1261872"/>
          </a:xfrm>
          <a:prstGeom prst="rect">
            <a:avLst/>
          </a:prstGeom>
          <a:solidFill>
            <a:srgbClr val="14213E"/>
          </a:solidFill>
          <a:ln w="19050">
            <a:solidFill>
              <a:srgbClr val="00D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C75"/>
                </a:solidFill>
              </a:rPr>
              <a:t>Deterministic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36392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673-cycle latency, invariant to operand values — ideal for real-time systems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606040"/>
            <a:ext cx="5532120" cy="1261872"/>
          </a:xfrm>
          <a:prstGeom prst="rect">
            <a:avLst/>
          </a:prstGeom>
          <a:solidFill>
            <a:srgbClr val="14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697480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Verified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136392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38.83× – 53.86× speedup over rv32i; 11.85× over MUL-equipped rv32im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40"/>
            <a:ext cx="5532120" cy="1261872"/>
          </a:xfrm>
          <a:prstGeom prst="rect">
            <a:avLst/>
          </a:prstGeom>
          <a:solidFill>
            <a:srgbClr val="14213E"/>
          </a:solidFill>
          <a:ln w="19050">
            <a:solidFill>
              <a:srgbClr val="F06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69080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6AC8"/>
                </a:solidFill>
              </a:rPr>
              <a:t>100% Test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07992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19/19 standalone · 8/8 integration · 5/5 professor demo · handoff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977640"/>
            <a:ext cx="5532120" cy="1261872"/>
          </a:xfrm>
          <a:prstGeom prst="rect">
            <a:avLst/>
          </a:prstGeom>
          <a:solidFill>
            <a:srgbClr val="14213E"/>
          </a:solidFill>
          <a:ln w="19050">
            <a:solidFill>
              <a:srgbClr val="90A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069080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A4B8"/>
                </a:solidFill>
              </a:rPr>
              <a:t>Interactive Tooling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507992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Two live web visualizers for architecture walkthrough and signal-level simulation</a:t>
            </a:r>
          </a:p>
        </p:txBody>
      </p:sp>
    </p:spTree>
  </p:cSld>
  <p:clrMapOvr>
    <a:masterClrMapping/>
  </p:clrMapOvr>
  <p:transition spd="med" dur="7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D4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926080"/>
            <a:ext cx="8534095" cy="190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1">
                <a:solidFill>
                  <a:srgbClr val="90A4B8"/>
                </a:solidFill>
              </a:rPr>
              <a:t>Team</a:t>
            </a:r>
          </a:p>
          <a:p>
            <a:pPr algn="l">
              <a:spcBef>
                <a:spcPts val="300"/>
              </a:spcBef>
            </a:pPr>
            <a:r>
              <a:rPr sz="1600" b="1" i="0">
                <a:solidFill>
                  <a:srgbClr val="FFFFFF"/>
                </a:solidFill>
              </a:rPr>
              <a:t>Nishchay Pallav  221EC233</a:t>
            </a:r>
          </a:p>
          <a:p>
            <a:pPr algn="l">
              <a:spcBef>
                <a:spcPts val="300"/>
              </a:spcBef>
            </a:pPr>
            <a:r>
              <a:rPr sz="1600" b="1" i="0">
                <a:solidFill>
                  <a:srgbClr val="FFFFFF"/>
                </a:solidFill>
              </a:rPr>
              <a:t>Mohammad Omar Sulemani  221EC230</a:t>
            </a:r>
          </a:p>
          <a:p>
            <a:pPr algn="l">
              <a:spcBef>
                <a:spcPts val="300"/>
              </a:spcBef>
            </a:pPr>
            <a:r>
              <a:rPr sz="1600" b="1" i="0">
                <a:solidFill>
                  <a:srgbClr val="FFFFFF"/>
                </a:solidFill>
              </a:rPr>
              <a:t>Md Atib Kaif  221EC129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1089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1">
                <a:solidFill>
                  <a:srgbClr val="90A4B8"/>
                </a:solidFill>
              </a:rPr>
              <a:t>Live Visualizers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00D4FF"/>
                </a:solidFill>
              </a:rPr>
              <a:t>🔗 riscv-visualizer-2.vercel.app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00D4FF"/>
                </a:solidFill>
              </a:rPr>
              <a:t>🔗 tinyml-pcpi-visualizer.vercel.app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B8"/>
                </a:solidFill>
              </a:rPr>
              <a:t>Dept. of Electronics &amp; Communication Engineering
National Institute of Technology Karnataka, Surathkal — 575025  ·  2026</a:t>
            </a:r>
          </a:p>
        </p:txBody>
      </p:sp>
    </p:spTree>
  </p:cSld>
  <p:clrMapOvr>
    <a:masterClrMapping/>
  </p:clrMapOvr>
  <p:transition spd="med" dur="7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